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76699"/>
  </p:normalViewPr>
  <p:slideViewPr>
    <p:cSldViewPr snapToGrid="0" snapToObjects="1">
      <p:cViewPr varScale="1">
        <p:scale>
          <a:sx n="90" d="100"/>
          <a:sy n="90" d="100"/>
        </p:scale>
        <p:origin x="112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47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what extent does VC industry specialization mitigate the negative relationship between institutional distance and the subsequent financing success of cross-border deep-tech ventures?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58648-8616-7B9D-BD9F-3EF802E6B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5C4F3-EB6B-AECB-72CD-AB4A8F89A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FFAF7-B624-7B83-ABE8-15E638A56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D8A4E-3EFC-45B6-C1F1-8B35C58708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12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457200" y="47548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National Distances, International Experience &amp; VC Investment Performance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Li, Y., Vertinsky, I. B., &amp; Li, J. (2014). Journal of Business Venturing, 29(4), 471–489.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47120" cy="13716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093976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Topic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244144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institutional and cultural distance between a VC's home country and an investee's host country affect cross-border VC exit success, and whether VCs' international experience mitigates these effects.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11247120" cy="13716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31520" y="3602736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Research Question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" y="3950208"/>
            <a:ext cx="1074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 institutional and cultural distance reduce the likelihood of a successful exit in cross-border VC investments, and can VCs' broad international or host-country-specific experience mitigate these negative effects?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4983480"/>
            <a:ext cx="1124712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1520" y="5111496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Relevance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31520" y="5458968"/>
            <a:ext cx="10744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VC has globalized rapidly, exposing foreign investors to a real liability of foreignness. Prior international business research leaned into cultural distance while institutional distance was under-tested in VC specifically. Practitioners need to know whether and what kind of experience helps.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One dimension of distance was missing and it matters through a different mechanism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868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 work (Dai et al., 2012) tested cultural distance only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697480" cy="868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429000" y="12801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Cultural vs institutional distance work through different mechanisms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26480" y="1280160"/>
            <a:ext cx="2697480" cy="868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263640" y="12801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test of what experience mitigates which distance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961120" y="1280160"/>
            <a:ext cx="2697480" cy="868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Regional (Asia) samples, not global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486400" cy="37947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31520" y="2994660"/>
            <a:ext cx="4937760" cy="68580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H1: Cultural Distance → ↓ Exit Success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31520" y="3822192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Impedes information sharing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Creates diverging approaches to deal selection, contracting, monitoring, advising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Triggers a “liability of foreigners” (lower trust, discrimination) that raises transaction costs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2423160"/>
            <a:ext cx="5486400" cy="37947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92240" y="2994660"/>
            <a:ext cx="4937760" cy="68580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H2: Institutional Distance → ↓ Exit Success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92240" y="3822192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Creates inconsistency between the VC's home practices and the host country's institutionalized rules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Raises the risk of legitimacy loss, sanctions, and added transaction costs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Undermines primary VC activities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/ 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Two kinds of experience, tested against both distances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834640" y="132588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834640" y="1325880"/>
            <a:ext cx="2651760" cy="38404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Cultural Distance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0" y="132588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0" y="1325880"/>
            <a:ext cx="2651760" cy="38404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Institutional Distance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1801368"/>
            <a:ext cx="2286000" cy="65836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Broad international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experience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34640" y="1801368"/>
            <a:ext cx="2560320" cy="658368"/>
          </a:xfrm>
          <a:prstGeom prst="roundRect">
            <a:avLst>
              <a:gd name="adj" fmla="val 694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834640" y="1801368"/>
            <a:ext cx="2560320" cy="6583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H3a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0" y="1801368"/>
            <a:ext cx="2560320" cy="658368"/>
          </a:xfrm>
          <a:prstGeom prst="roundRect">
            <a:avLst>
              <a:gd name="adj" fmla="val 694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0" y="1801368"/>
            <a:ext cx="2560320" cy="6583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H3b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" y="2587752"/>
            <a:ext cx="2286000" cy="65836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Host-country-specific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experience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34640" y="2587752"/>
            <a:ext cx="2560320" cy="658368"/>
          </a:xfrm>
          <a:prstGeom prst="roundRect">
            <a:avLst>
              <a:gd name="adj" fmla="val 694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834640" y="2587752"/>
            <a:ext cx="2560320" cy="6583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H4a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0" y="2587752"/>
            <a:ext cx="2560320" cy="658368"/>
          </a:xfrm>
          <a:prstGeom prst="roundRect">
            <a:avLst>
              <a:gd name="adj" fmla="val 694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86400" y="2587752"/>
            <a:ext cx="2560320" cy="65836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H4b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412480" y="1325880"/>
            <a:ext cx="3291840" cy="175564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412479" y="1325880"/>
            <a:ext cx="3291839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H5: Both experience mitigates institutional distance more than cultural distance. Institutional gaps are explicit and visibly enforced while cultural gaps stay tacit even after exposure.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Broad experience builds cross-country adaptive capability while host experience builds deep, location-specific knowledge.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are proposed to weaken the distance and increase exit-success.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11247120" cy="0"/>
          </a:xfrm>
          <a:prstGeom prst="line">
            <a:avLst/>
          </a:prstGeom>
          <a:noFill/>
          <a:ln w="1905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57200" y="40050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2139696" cy="10515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21792" y="45445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10,593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21792" y="505663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cross-border VC deals*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456430" y="4434840"/>
            <a:ext cx="2139696" cy="10515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621022" y="45445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1996–2008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3621022" y="505663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financing window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10526" y="4434840"/>
            <a:ext cx="2139696" cy="10515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675118" y="45445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69 / 64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675118" y="505663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VC / investee nations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564622" y="4434840"/>
            <a:ext cx="2139696" cy="10515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9729214" y="454456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7,816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9729214" y="505663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VC firms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*First financing round only, from </a:t>
            </a:r>
            <a:r>
              <a:rPr lang="en-US" sz="12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VentureXpert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Investee country differs from the VC's home country.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concept to construct and what else was ruled out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6949440" cy="56692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2801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Exit success (DV)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697480" y="12801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Dummy = 1 if the investee went public or was acquired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414815"/>
            <a:ext cx="6949440" cy="56692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85800" y="2414815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Institutional distance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697480" y="2414815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dimensions of World Governance Indicator (Kaufmann et al., 2007)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averaged into a composite index and measured as the </a:t>
            </a: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absolute distance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VC's home country and the investee's host country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" y="3461004"/>
            <a:ext cx="6949440" cy="56692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85800" y="346100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Cultural distance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2697480" y="346100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Kogut &amp; Singh (1988) index on Hofstede's 4 dimensions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595659"/>
            <a:ext cx="6949440" cy="56692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85800" y="4595659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Broad int. experience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2697480" y="4595659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Share of VC's deals over the prior five years made outside home country, across diverse nations (between 0 and1)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5641848"/>
            <a:ext cx="6949440" cy="56692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85800" y="56418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Host-country experience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2697480" y="564184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Ventures funded by the VC in that host country (5 yrs) divided by total ventures funded (5 yrs)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68096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D170B9AE-9BFD-8B9C-6806-B3D454F0BEAC}"/>
              </a:ext>
            </a:extLst>
          </p:cNvPr>
          <p:cNvSpPr txBox="1"/>
          <p:nvPr/>
        </p:nvSpPr>
        <p:spPr>
          <a:xfrm>
            <a:off x="7635240" y="2339983"/>
            <a:ext cx="4023360" cy="3237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 past success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 industry specialization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 syndication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 local office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Early-stage venture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distance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Venture-nation VC commitment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Venture-nation GDP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Industry/nation/year fixed effects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FF4D3-B597-DCEB-D3AF-FF9A07DD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B9D2BFD-253D-3DF7-E76E-F8D3A5FC14AA}"/>
              </a:ext>
            </a:extLst>
          </p:cNvPr>
          <p:cNvSpPr txBox="1"/>
          <p:nvPr/>
        </p:nvSpPr>
        <p:spPr>
          <a:xfrm>
            <a:off x="457200" y="51206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Logit + Heckman models and what the paper adds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579D4E5-FB80-3904-1743-F7F60E10CDEA}"/>
              </a:ext>
            </a:extLst>
          </p:cNvPr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Logit regression (11 models) + two-stage Heckman selection model (corrects for non-random foreign-VC participation)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Interaction effects via Ai &amp; Norton (2003) and robustness with language &amp; legal distance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96AFF21-4180-2152-3B50-4380DE5B9DEE}"/>
              </a:ext>
            </a:extLst>
          </p:cNvPr>
          <p:cNvSpPr txBox="1"/>
          <p:nvPr/>
        </p:nvSpPr>
        <p:spPr>
          <a:xfrm>
            <a:off x="457200" y="196596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61C7F9A8-2F09-9F9D-604C-AEADF11CA735}"/>
              </a:ext>
            </a:extLst>
          </p:cNvPr>
          <p:cNvSpPr/>
          <p:nvPr/>
        </p:nvSpPr>
        <p:spPr>
          <a:xfrm>
            <a:off x="457200" y="2276856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ACADAECE-E020-615B-8ECF-F157F9DE3396}"/>
              </a:ext>
            </a:extLst>
          </p:cNvPr>
          <p:cNvSpPr txBox="1"/>
          <p:nvPr/>
        </p:nvSpPr>
        <p:spPr>
          <a:xfrm>
            <a:off x="457200" y="22768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Supported</a:t>
            </a:r>
            <a:endParaRPr lang="en-US" sz="87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F949CCE-61EC-F941-0F78-3C81D492A012}"/>
              </a:ext>
            </a:extLst>
          </p:cNvPr>
          <p:cNvSpPr txBox="1"/>
          <p:nvPr/>
        </p:nvSpPr>
        <p:spPr>
          <a:xfrm>
            <a:off x="2066544" y="196596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64355740-CE05-F61F-9244-7B9CE7EDB53B}"/>
              </a:ext>
            </a:extLst>
          </p:cNvPr>
          <p:cNvSpPr/>
          <p:nvPr/>
        </p:nvSpPr>
        <p:spPr>
          <a:xfrm>
            <a:off x="2066544" y="2276856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F4EB0CD9-8B32-FA95-AD38-06D353B8B81C}"/>
              </a:ext>
            </a:extLst>
          </p:cNvPr>
          <p:cNvSpPr txBox="1"/>
          <p:nvPr/>
        </p:nvSpPr>
        <p:spPr>
          <a:xfrm>
            <a:off x="2066544" y="22768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Supported</a:t>
            </a:r>
            <a:endParaRPr lang="en-US" sz="87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46C95D38-6D5F-088A-4307-2C2ACAB6EEB2}"/>
              </a:ext>
            </a:extLst>
          </p:cNvPr>
          <p:cNvSpPr txBox="1"/>
          <p:nvPr/>
        </p:nvSpPr>
        <p:spPr>
          <a:xfrm>
            <a:off x="3675888" y="196596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H3a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5EED7C9B-AFAF-61A7-27D0-D910ED275140}"/>
              </a:ext>
            </a:extLst>
          </p:cNvPr>
          <p:cNvSpPr/>
          <p:nvPr/>
        </p:nvSpPr>
        <p:spPr>
          <a:xfrm>
            <a:off x="3675888" y="2276856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6D086171-6F03-E625-F38A-FD0AC6F00ACE}"/>
              </a:ext>
            </a:extLst>
          </p:cNvPr>
          <p:cNvSpPr txBox="1"/>
          <p:nvPr/>
        </p:nvSpPr>
        <p:spPr>
          <a:xfrm>
            <a:off x="3675888" y="22768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 supported</a:t>
            </a:r>
            <a:endParaRPr lang="en-US" sz="87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6146F820-C8C8-36D4-B358-6026331F0FF0}"/>
              </a:ext>
            </a:extLst>
          </p:cNvPr>
          <p:cNvSpPr txBox="1"/>
          <p:nvPr/>
        </p:nvSpPr>
        <p:spPr>
          <a:xfrm>
            <a:off x="5285232" y="196596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H3b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9F04E339-E73C-2772-6BB0-DC6C110DEA24}"/>
              </a:ext>
            </a:extLst>
          </p:cNvPr>
          <p:cNvSpPr/>
          <p:nvPr/>
        </p:nvSpPr>
        <p:spPr>
          <a:xfrm>
            <a:off x="5285232" y="2276856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682382C8-7147-0637-EFC5-1D48FBFF086D}"/>
              </a:ext>
            </a:extLst>
          </p:cNvPr>
          <p:cNvSpPr txBox="1"/>
          <p:nvPr/>
        </p:nvSpPr>
        <p:spPr>
          <a:xfrm>
            <a:off x="5285232" y="22768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Partially supported</a:t>
            </a:r>
            <a:endParaRPr lang="en-US" sz="87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59F0FFB5-6129-190B-0914-D320926696CB}"/>
              </a:ext>
            </a:extLst>
          </p:cNvPr>
          <p:cNvSpPr txBox="1"/>
          <p:nvPr/>
        </p:nvSpPr>
        <p:spPr>
          <a:xfrm>
            <a:off x="6894576" y="196596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H4a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65317F29-A733-A54F-1845-D830B8D0B5CE}"/>
              </a:ext>
            </a:extLst>
          </p:cNvPr>
          <p:cNvSpPr/>
          <p:nvPr/>
        </p:nvSpPr>
        <p:spPr>
          <a:xfrm>
            <a:off x="6894576" y="2276856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13CE7512-2C1D-A0D7-4000-AEB76A38F4E5}"/>
              </a:ext>
            </a:extLst>
          </p:cNvPr>
          <p:cNvSpPr txBox="1"/>
          <p:nvPr/>
        </p:nvSpPr>
        <p:spPr>
          <a:xfrm>
            <a:off x="6894576" y="22768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 supported</a:t>
            </a:r>
            <a:endParaRPr lang="en-US" sz="87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80DFC819-E917-C4D7-E91F-5F4367D1ECDB}"/>
              </a:ext>
            </a:extLst>
          </p:cNvPr>
          <p:cNvSpPr txBox="1"/>
          <p:nvPr/>
        </p:nvSpPr>
        <p:spPr>
          <a:xfrm>
            <a:off x="8503920" y="196596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H4b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DB15A6B1-B1BE-DCBC-6A67-901FBDA05607}"/>
              </a:ext>
            </a:extLst>
          </p:cNvPr>
          <p:cNvSpPr/>
          <p:nvPr/>
        </p:nvSpPr>
        <p:spPr>
          <a:xfrm>
            <a:off x="8503920" y="2276856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735930B4-A8C5-4FF8-0F5F-B6C3B8E53F7A}"/>
              </a:ext>
            </a:extLst>
          </p:cNvPr>
          <p:cNvSpPr txBox="1"/>
          <p:nvPr/>
        </p:nvSpPr>
        <p:spPr>
          <a:xfrm>
            <a:off x="8503920" y="22768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 supported</a:t>
            </a:r>
            <a:endParaRPr lang="en-US" sz="87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11BB978C-9966-089D-8FCE-EB9493E6010B}"/>
              </a:ext>
            </a:extLst>
          </p:cNvPr>
          <p:cNvSpPr txBox="1"/>
          <p:nvPr/>
        </p:nvSpPr>
        <p:spPr>
          <a:xfrm>
            <a:off x="10113264" y="196596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0F3B46BF-01F3-3E1F-EA03-02137A7085FD}"/>
              </a:ext>
            </a:extLst>
          </p:cNvPr>
          <p:cNvSpPr/>
          <p:nvPr/>
        </p:nvSpPr>
        <p:spPr>
          <a:xfrm>
            <a:off x="10113264" y="2276856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AB3A934D-E803-B161-D17F-D2DB88ABB4F3}"/>
              </a:ext>
            </a:extLst>
          </p:cNvPr>
          <p:cNvSpPr txBox="1"/>
          <p:nvPr/>
        </p:nvSpPr>
        <p:spPr>
          <a:xfrm>
            <a:off x="10113264" y="22768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Partially supported</a:t>
            </a:r>
            <a:endParaRPr lang="en-US" sz="87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415E151B-4772-3192-D2E3-2389A61FEE53}"/>
              </a:ext>
            </a:extLst>
          </p:cNvPr>
          <p:cNvSpPr txBox="1"/>
          <p:nvPr/>
        </p:nvSpPr>
        <p:spPr>
          <a:xfrm>
            <a:off x="1051560" y="3035808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Separates institutional distance (economic/sociological) from cultural distance (socio-cognitive) as distinct, complementary drivers - prior work tested cultural distance alone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4C049270-8236-EC4D-A954-EC13CB411D29}"/>
              </a:ext>
            </a:extLst>
          </p:cNvPr>
          <p:cNvSpPr txBox="1"/>
          <p:nvPr/>
        </p:nvSpPr>
        <p:spPr>
          <a:xfrm>
            <a:off x="1051560" y="3657600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Shows experience is not a uniform remedy - broad/host experience mitigate institutional and cultural distance differently, because institutional gaps are explicit while cultural gaps stay tacit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32">
            <a:extLst>
              <a:ext uri="{FF2B5EF4-FFF2-40B4-BE49-F238E27FC236}">
                <a16:creationId xmlns:a16="http://schemas.microsoft.com/office/drawing/2014/main" id="{001354B5-7386-FDD1-B099-395AA9A49457}"/>
              </a:ext>
            </a:extLst>
          </p:cNvPr>
          <p:cNvSpPr txBox="1"/>
          <p:nvPr/>
        </p:nvSpPr>
        <p:spPr>
          <a:xfrm>
            <a:off x="1051560" y="4279392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Takes the question global, beyond regional (Asia) samples, matching how VCs actually invest across many regions at once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33">
            <a:extLst>
              <a:ext uri="{FF2B5EF4-FFF2-40B4-BE49-F238E27FC236}">
                <a16:creationId xmlns:a16="http://schemas.microsoft.com/office/drawing/2014/main" id="{069DF837-78F3-573A-0DDE-2E6B03341575}"/>
              </a:ext>
            </a:extLst>
          </p:cNvPr>
          <p:cNvSpPr/>
          <p:nvPr/>
        </p:nvSpPr>
        <p:spPr>
          <a:xfrm>
            <a:off x="457200" y="5120640"/>
            <a:ext cx="112471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34">
            <a:extLst>
              <a:ext uri="{FF2B5EF4-FFF2-40B4-BE49-F238E27FC236}">
                <a16:creationId xmlns:a16="http://schemas.microsoft.com/office/drawing/2014/main" id="{9BCA8D75-7557-0ECC-19CC-5B19089973D0}"/>
              </a:ext>
            </a:extLst>
          </p:cNvPr>
          <p:cNvSpPr txBox="1"/>
          <p:nvPr/>
        </p:nvSpPr>
        <p:spPr>
          <a:xfrm>
            <a:off x="77724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Link to my thesis: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956B0642-7B08-91A0-8829-0F46F9849656}"/>
              </a:ext>
            </a:extLst>
          </p:cNvPr>
          <p:cNvSpPr txBox="1"/>
          <p:nvPr/>
        </p:nvSpPr>
        <p:spPr>
          <a:xfrm>
            <a:off x="77724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Institutional distance hurts cross-border VC performance unless something offsets it but replaces model’s moderator of general international experience with industry-specific specialization, and adds host-country syndication as a second, alternative way to offset that distance.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137C7BE3-A705-0912-B456-B5210C38C98C}"/>
              </a:ext>
            </a:extLst>
          </p:cNvPr>
          <p:cNvSpPr txBox="1"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79958A32-9EB2-4AC3-385A-D63864A340DF}"/>
              </a:ext>
            </a:extLst>
          </p:cNvPr>
          <p:cNvSpPr txBox="1"/>
          <p:nvPr/>
        </p:nvSpPr>
        <p:spPr>
          <a:xfrm>
            <a:off x="457200" y="3685032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E7310B9B-2B04-40D5-D6C4-07B8C9E92443}"/>
              </a:ext>
            </a:extLst>
          </p:cNvPr>
          <p:cNvSpPr txBox="1"/>
          <p:nvPr/>
        </p:nvSpPr>
        <p:spPr>
          <a:xfrm>
            <a:off x="457200" y="4306824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08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760</Words>
  <Application>Microsoft Macintosh PowerPoint</Application>
  <PresentationFormat>Widescreen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Sarman</cp:lastModifiedBy>
  <cp:revision>4</cp:revision>
  <dcterms:created xsi:type="dcterms:W3CDTF">2026-09-15T08:32:09Z</dcterms:created>
  <dcterms:modified xsi:type="dcterms:W3CDTF">2026-09-15T13:15:01Z</dcterms:modified>
</cp:coreProperties>
</file>