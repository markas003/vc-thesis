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thesis looks at cross-border venture capital inside Europe. The starting point is a simple observation: when a VC invests in a startup in another country, it suffers a liability of foreignness. It knows the rules, the norms and the networks of its home country less well in the host country, and prior research shows that cross-border deals perform worse as a result.
Europe is an interesting test case, because European integration was supposed to remove many of these differences. My question is whether institutional, cultural and geographic distance between European countries still reduce the exit success of cross-border VC investments, and whether investors can offset that. I compare two remedies. Investors can build the knowledge themselves, through industry specialization, or they can borrow it, by bringing in a local co-investor from the venture's country.
In short: integration harmonized many formal rules, but norms, networks and enforcement are still national. I want to find out which distances survive, and which remedy works against which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matter in practice? Cross-border investing is no longer the exception. According to Preqin data cited by Kollmann and colleagues, about 30 percent of VC investments were cross-border in 2020, up from 20 percent in 2000. And foreign investors very often bring in a local partner: Tykvova and Schertler find a local VC in 57 percent of cross-border deals.
At the same time, cross-border deals pay less. Buchner and colleagues show that cross-border investments underperform comparable domestic ones, and a recent European study by Liu and colleagues finds that startups backed by investors from several countries have lower sales and return on assets.
So the question of what helps is relevant for three groups. VC investors need to know whether to invest in sector expertise or in local partners. Founders need to know which foreign investors actually add value. And for EU policy, the 2025 Savings and Investments Union aims to integrate European capital markets, while research such as Bosio and colleagues shows that national differences still shape VC 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we know? I have organized the literature around three ideas rather than around authors.
First, distance creates a liability of foreignness. Foreign VCs have higher information and monitoring costs, as Zaheer's work and the review by Devigne and colleagues describe. My model paper, Li, Vertinsky and Li 2014, shows that institutional and cultural distance lower the chance of a successful exit. Other studies show that cross-border deals take longer to exit and earn lower returns.
Second, distances are not all the same. Institutional distance works through legitimacy, sanctions and incompatible practices. Cultural distance works through trust and information sharing. Beugelsdijk and colleagues show that the choice of measure really matters. And importantly for my setting, Moore and colleagues find that within Europe normative and cultural distance reduce VC flows, while regulative distance does not.
Third, some firm resources offset distance. International experience offsets institutional but not cultural distance. Local co-investors offset geographic but not institutional distance. And specialized VCs perform better and invest abroad more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don't we know yet? I see four gaps.
One: Europe is mostly treated as a single market. Intra-European studies look at investment flows, not performance, and recent papers such as Bosio and colleagues and Taglialatela and Barontini explicitly say that treating Europe as homogeneous is a limitation.
Two: as a result, nobody has tested whether institutional, cultural and geographic distance between European countries still reduce exit success.
Three: specialization has only been studied as a direct driver of performance, or used as a control, as in my model paper. Nobody has asked whether it changes how much distance hurts.
Four: local syndication has been tested as a remedy for the decision to invest, not for performance, and the two remedies, building versus borrowing knowledge, have never been compared against specific types of distance.
This connects to a puzzle: Liu and colleagues find that European startups with investors from several countries perform worse, but we don't know which distance drives that or what offsets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it worth filling these gaps? On the theory side, I make three contributions.
First, I apply liability-of-foreignness theory inside an integrated region and show which types of distance survive integration. That tells us something about what integration does and doesn't remove.
Second, I propose a build versus borrow framework. The idea comes from Kogut and Zander: codified knowledge can be learned and reused, tacit knowledge cannot. So investors can build their way through formal institutional differences, but they have to borrow local knowledge to deal with informal norms and physical distance. Each remedy should fit a specific type of distance.
Third, I extend my model paper. Li and colleagues looked at general international experience; I look at industry-specific knowledge. And I move local syndication from the investment decision, where it was tested before, to performance.
Practically, this gives VCs evidence on when sector expertise is enough and when they need a local partner, helps founders choose their investors, and tells policymakers whether harmonized rules are enough or whether norms and networks still fragment European VC.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I address the gap? Theoretically, I combine four perspectives, each with a clear role.
Liability of foreignness explains why cross-border deals perform worse in the first place.
Institutional theory and the national-distance literature tell me which kind of distance creates that disadvantage: formal rules, which is institutional distance; informal norms, which is cultural distance; and physical distance.
The knowledge-based view is my build side. Industry knowledge, for example how regulatory pathways, IP practices and typical acquirers work in a sector, is codified and largely portable across European borders.
Embeddedness and network theory is my borrow side. Tacit, local knowledge and trust come through partners who are embedded in the local context.
The core logic connects them. Formal rules are codified, so a specialist can learn once how its industry works under different rules and reuse that knowledge. That is why build should offset institutional distance. Norms and on-site presence are tacit and tied to a place, so they have to be borrowed from a local co-investor. Finally, VC value-add through screening, monitoring and certification links all of this to exit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conceptual model. On the left are the three types of distance between the lead investor's country and the venture's country. Institutional distance captures formal rules, measured through regulatory quality and rule of law. Cultural distance captures informal norms and values. Geographic distance is physical distance. Each is expected to reduce exit success, which is H1a to H1c.
The two moderators sit on top of these relationships. At the top, in green, is build: the lead VC's industry specialization, which I expect to weaken the negative effect of institutional distance. That is H2.
At the bottom, in red, is borrow: having a local co-investor in the syndicate, which I expect to weaken the negative effects of cultural and geographic distance. Those are H3a and H3b.
On the right are the controls. The most important one is international experience and its interaction with distance, because that is the moderator in my model paper. Controlling for it makes sure my specialization effect is not just an experience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shows the logic of the hypotheses. The columns are the three distances, the rows are the direct effect and the two remedies.
The first row is H1: each type of distance reduces exit success. The second row is build. I expect specialization to weaken the institutional distance effect, H2. The third row is borrow. I expect a local co-investor to weaken the cultural and geographic distance effects, H3a and H3b.
The cells marked "check" are not hypotheses, but I test and report them. If specialization doesn't help with cultural distance and a local partner doesn't help with institutional distance, that supports the idea that each remedy fits a specific distance.
Why moderators and not independent variables? The direct effect of specialization on performance is already known from Gompers and colleagues and is a control in my model paper. The closest papers all model resources like experience, local partners or networks as moderators of distance.
The mechanism for H2: country knowledge is tied to the home market, but industry knowledge travels across borders. Specialists rely less on country knowledge, so they lose less when institutional distance grows. Specialization changes the slope, not just the level. For H3: norms and trust are tacit, and monitoring needs proximity, so an embedded local partner narrows those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Empirically, here is the preliminary design. The deal data comes from LSEG Workspace, which contains the VentureXpert data, combined with World Bank governance indicators, Hofstede's culture scores and great-circle distances.
The sample is the first cross-border round in which the lead VC and the venture are in different European countries, covering the EU27 plus the UK, Switzerland and Norway, across all sectors with industry fixed effects. I use deals up to about 2018 so every venture has at least seven years to exit.
The dependent variable is exit success, IPO or acquisition, which is the standard in this literature. As a secondary outcome I look at whether the venture raises a follow-on round within 24 months.
Institutional distance uses the regulatory quality, rule of law and government effectiveness indicators, combined with a Mahalanobis distance. Cultural distance uses the Kogut and Singh index, geographic distance the log of kilometres. Specialization follows the model paper: the share of the lead VC's past five years of investment in the venture's industry. The local co-investor is a dummy.
I estimate logit models with fixed effects and show interactions as marginal effects. On the right are the robustness checks, mostly taken directly from prior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your advice from the last meeting, the first thing I do is check the data. These are the four main risks.
First, are there enough deals? I will count intra-European cross-border rounds with a usable investor-country field in LSEG. If there are too few, I widen the time window or make the follow-on round the main outcome.
Second, investor location. The headquarters field can classify a deal by a foreign VC's local branch as domestic, which Devigne and colleagues point out. I will look for a parent or branch field and check the largest investors by hand.
Third, distances inside Europe may vary less than in global samples. I will report how strongly distance correlates with host-country scores, as Beugelsdijk and colleagues recommend, and control for host-country institutional quality.
Fourth, exit censoring: recent deals haven't had time to exit, so I cut the sample around 2018 and use the follow-on outcome for later deals.
The timeline: a pilot data pull by the 3rd of October, the introduction and literature review by the 6th, methods by the 9th, and the final proposal on the 11th.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I have four questions for you.
One: is the moderator argument for specialization convincing? I argue that portable industry knowledge changes the slope of the distance effect, not just the level of performance. I'd like to know whether you find that mechanism strong enough or whether I should sharpen it further.
Two: is three distances and two moderators the right scope for a master's thesis, or would you make geographic distance a control?
Three: do you agree with exit success as the main outcome and follow-on financing as the secondary one?
And four: is LSEG with the VentureXpert data enough for intra-European deals, or should I validate investor locations with Dealroom, which you mentioned as the most European-focused source?
Thank you, I'm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47120" y="6492240"/>
            <a:ext cx="685800" cy="228600"/>
          </a:xfrm>
          <a:prstGeom prst="rect">
            <a:avLst/>
          </a:prstGeom>
          <a:noFill/>
          <a:ln/>
        </p:spPr>
        <p:txBody>
          <a:bodyPr wrap="square" lIns="0" tIns="0" rIns="0" bIns="0" rtlCol="0" anchor="ctr"/>
          <a:lstStyle/>
          <a:p>
            <a:pPr algn="r" indent="0" marL="0">
              <a:buNone/>
            </a:pPr>
            <a:r>
              <a:rPr lang="en-US" sz="900" dirty="0">
                <a:solidFill>
                  <a:srgbClr val="5A5F73"/>
                </a:solidFill>
                <a:latin typeface="Times New Roman" pitchFamily="34" charset="0"/>
                <a:ea typeface="Times New Roman" pitchFamily="34" charset="-122"/>
                <a:cs typeface="Times New Roman" pitchFamily="34" charset="-120"/>
              </a:rPr>
              <a:t>1 / 11</a:t>
            </a:r>
            <a:endParaRPr lang="en-US" sz="900" dirty="0"/>
          </a:p>
        </p:txBody>
      </p:sp>
      <p:sp>
        <p:nvSpPr>
          <p:cNvPr id="3" name="Text 1"/>
          <p:cNvSpPr txBox="1"/>
          <p:nvPr/>
        </p:nvSpPr>
        <p:spPr>
          <a:xfrm>
            <a:off x="457200" y="411480"/>
            <a:ext cx="11247120" cy="868680"/>
          </a:xfrm>
          <a:prstGeom prst="rect">
            <a:avLst/>
          </a:prstGeom>
          <a:noFill/>
          <a:ln/>
        </p:spPr>
        <p:txBody>
          <a:bodyPr wrap="square" lIns="0" tIns="0" rIns="0" bIns="0" rtlCol="0" anchor="ctr"/>
          <a:lstStyle/>
          <a:p>
            <a:pPr indent="0" marL="0">
              <a:buNone/>
            </a:pPr>
            <a:r>
              <a:rPr lang="en-US" sz="2400" b="1" dirty="0">
                <a:solidFill>
                  <a:srgbClr val="000000"/>
                </a:solidFill>
                <a:latin typeface="Times New Roman" pitchFamily="34" charset="0"/>
                <a:ea typeface="Times New Roman" pitchFamily="34" charset="-122"/>
                <a:cs typeface="Times New Roman" pitchFamily="34" charset="-120"/>
              </a:rPr>
              <a:t>Build or Borrow? Industry Specialization, Local Syndication and the Liability of Distance in Intra-European Cross-Border Venture Capital</a:t>
            </a:r>
            <a:endParaRPr lang="en-US" sz="2400" dirty="0"/>
          </a:p>
        </p:txBody>
      </p:sp>
      <p:sp>
        <p:nvSpPr>
          <p:cNvPr id="4" name="Text 2"/>
          <p:cNvSpPr txBox="1"/>
          <p:nvPr/>
        </p:nvSpPr>
        <p:spPr>
          <a:xfrm>
            <a:off x="457200" y="1298448"/>
            <a:ext cx="11247120" cy="274320"/>
          </a:xfrm>
          <a:prstGeom prst="rect">
            <a:avLst/>
          </a:prstGeom>
          <a:noFill/>
          <a:ln/>
        </p:spPr>
        <p:txBody>
          <a:bodyPr wrap="square" lIns="0" tIns="0" rIns="0" bIns="0" rtlCol="0" anchor="t"/>
          <a:lstStyle/>
          <a:p>
            <a:pPr indent="0" marL="0">
              <a:buNone/>
            </a:pPr>
            <a:r>
              <a:rPr lang="en-US" sz="1400" dirty="0">
                <a:solidFill>
                  <a:srgbClr val="5A5F73"/>
                </a:solidFill>
                <a:latin typeface="Times New Roman" pitchFamily="34" charset="0"/>
                <a:ea typeface="Times New Roman" pitchFamily="34" charset="-122"/>
                <a:cs typeface="Times New Roman" pitchFamily="34" charset="-120"/>
              </a:rPr>
              <a:t>Mark Sarman  |  Research proposal  |  Thesis meeting 2  |  RSM / CEMS</a:t>
            </a:r>
            <a:endParaRPr lang="en-US" sz="1400" dirty="0"/>
          </a:p>
        </p:txBody>
      </p:sp>
      <p:sp>
        <p:nvSpPr>
          <p:cNvPr id="5" name="Shape 3"/>
          <p:cNvSpPr/>
          <p:nvPr/>
        </p:nvSpPr>
        <p:spPr>
          <a:xfrm>
            <a:off x="457200" y="1828800"/>
            <a:ext cx="11247120" cy="1188720"/>
          </a:xfrm>
          <a:prstGeom prst="rect">
            <a:avLst/>
          </a:prstGeom>
          <a:solidFill>
            <a:srgbClr val="E7E6E6"/>
          </a:solidFill>
          <a:ln w="12700">
            <a:solidFill>
              <a:srgbClr val="E7E6E6"/>
            </a:solidFill>
            <a:prstDash val="solid"/>
          </a:ln>
        </p:spPr>
      </p:sp>
      <p:sp>
        <p:nvSpPr>
          <p:cNvPr id="6" name="Text 4"/>
          <p:cNvSpPr txBox="1"/>
          <p:nvPr/>
        </p:nvSpPr>
        <p:spPr>
          <a:xfrm>
            <a:off x="731520" y="1938528"/>
            <a:ext cx="10698480" cy="320040"/>
          </a:xfrm>
          <a:prstGeom prst="rect">
            <a:avLst/>
          </a:prstGeom>
          <a:noFill/>
          <a:ln/>
        </p:spPr>
        <p:txBody>
          <a:bodyPr wrap="square" lIns="0" tIns="0" rIns="0" bIns="0" rtlCol="0" anchor="t"/>
          <a:lstStyle/>
          <a:p>
            <a:pPr algn="ctr" indent="0" marL="0">
              <a:buNone/>
            </a:pPr>
            <a:r>
              <a:rPr lang="en-US" sz="1800" b="1" dirty="0">
                <a:solidFill>
                  <a:srgbClr val="000000"/>
                </a:solidFill>
                <a:latin typeface="Times New Roman" pitchFamily="34" charset="0"/>
                <a:ea typeface="Times New Roman" pitchFamily="34" charset="-122"/>
                <a:cs typeface="Times New Roman" pitchFamily="34" charset="-120"/>
              </a:rPr>
              <a:t>Topic</a:t>
            </a:r>
            <a:endParaRPr lang="en-US" sz="1800" dirty="0"/>
          </a:p>
        </p:txBody>
      </p:sp>
      <p:sp>
        <p:nvSpPr>
          <p:cNvPr id="7" name="Text 5"/>
          <p:cNvSpPr txBox="1"/>
          <p:nvPr/>
        </p:nvSpPr>
        <p:spPr>
          <a:xfrm>
            <a:off x="731520" y="2286000"/>
            <a:ext cx="10698480" cy="640080"/>
          </a:xfrm>
          <a:prstGeom prst="rect">
            <a:avLst/>
          </a:prstGeom>
          <a:noFill/>
          <a:ln/>
        </p:spPr>
        <p:txBody>
          <a:bodyPr wrap="square" lIns="0" tIns="0" rIns="0" bIns="0" rtlCol="0" anchor="ctr"/>
          <a:lstStyle/>
          <a:p>
            <a:pPr algn="ctr" indent="0" marL="0">
              <a:buNone/>
            </a:pPr>
            <a:r>
              <a:rPr lang="en-US" sz="1500" dirty="0">
                <a:solidFill>
                  <a:srgbClr val="1B1B2F"/>
                </a:solidFill>
                <a:latin typeface="Times New Roman" pitchFamily="34" charset="0"/>
                <a:ea typeface="Times New Roman" pitchFamily="34" charset="-122"/>
                <a:cs typeface="Times New Roman" pitchFamily="34" charset="-120"/>
              </a:rPr>
              <a:t>Cross-border venture capital inside Europe: do institutional, cultural and geographic distance between the investor’s and the venture’s country still hurt performance, and what can investors do about it?</a:t>
            </a:r>
            <a:endParaRPr lang="en-US" sz="1500" dirty="0"/>
          </a:p>
        </p:txBody>
      </p:sp>
      <p:sp>
        <p:nvSpPr>
          <p:cNvPr id="8" name="Shape 6"/>
          <p:cNvSpPr/>
          <p:nvPr/>
        </p:nvSpPr>
        <p:spPr>
          <a:xfrm>
            <a:off x="457200" y="3200400"/>
            <a:ext cx="11247120" cy="1417320"/>
          </a:xfrm>
          <a:prstGeom prst="rect">
            <a:avLst/>
          </a:prstGeom>
          <a:solidFill>
            <a:srgbClr val="E7E6E6"/>
          </a:solidFill>
          <a:ln w="12700">
            <a:solidFill>
              <a:srgbClr val="E7E6E6"/>
            </a:solidFill>
            <a:prstDash val="solid"/>
          </a:ln>
        </p:spPr>
      </p:sp>
      <p:sp>
        <p:nvSpPr>
          <p:cNvPr id="9" name="Text 7"/>
          <p:cNvSpPr txBox="1"/>
          <p:nvPr/>
        </p:nvSpPr>
        <p:spPr>
          <a:xfrm>
            <a:off x="731520" y="3310128"/>
            <a:ext cx="10698480" cy="320040"/>
          </a:xfrm>
          <a:prstGeom prst="rect">
            <a:avLst/>
          </a:prstGeom>
          <a:noFill/>
          <a:ln/>
        </p:spPr>
        <p:txBody>
          <a:bodyPr wrap="square" lIns="0" tIns="0" rIns="0" bIns="0" rtlCol="0" anchor="t"/>
          <a:lstStyle/>
          <a:p>
            <a:pPr algn="ctr" indent="0" marL="0">
              <a:buNone/>
            </a:pPr>
            <a:r>
              <a:rPr lang="en-US" sz="1800" b="1" dirty="0">
                <a:solidFill>
                  <a:srgbClr val="000000"/>
                </a:solidFill>
                <a:latin typeface="Times New Roman" pitchFamily="34" charset="0"/>
                <a:ea typeface="Times New Roman" pitchFamily="34" charset="-122"/>
                <a:cs typeface="Times New Roman" pitchFamily="34" charset="-120"/>
              </a:rPr>
              <a:t>Research question</a:t>
            </a:r>
            <a:endParaRPr lang="en-US" sz="1800" dirty="0"/>
          </a:p>
        </p:txBody>
      </p:sp>
      <p:sp>
        <p:nvSpPr>
          <p:cNvPr id="10" name="Text 8"/>
          <p:cNvSpPr txBox="1"/>
          <p:nvPr/>
        </p:nvSpPr>
        <p:spPr>
          <a:xfrm>
            <a:off x="731520" y="3657600"/>
            <a:ext cx="10698480" cy="868680"/>
          </a:xfrm>
          <a:prstGeom prst="rect">
            <a:avLst/>
          </a:prstGeom>
          <a:noFill/>
          <a:ln/>
        </p:spPr>
        <p:txBody>
          <a:bodyPr wrap="square" lIns="0" tIns="0" rIns="0" bIns="0" rtlCol="0" anchor="ctr"/>
          <a:lstStyle/>
          <a:p>
            <a:pPr algn="ctr" indent="0" marL="0">
              <a:buNone/>
            </a:pPr>
            <a:r>
              <a:rPr lang="en-US" sz="1500" dirty="0">
                <a:solidFill>
                  <a:srgbClr val="1B1B2F"/>
                </a:solidFill>
                <a:latin typeface="Times New Roman" pitchFamily="34" charset="0"/>
                <a:ea typeface="Times New Roman" pitchFamily="34" charset="-122"/>
                <a:cs typeface="Times New Roman" pitchFamily="34" charset="-120"/>
              </a:rPr>
              <a:t>To what extent do institutional, cultural and geographic distance between European countries reduce the exit success of cross-border VC investments, and to what extent can VC firms offset these effects by building knowledge (industry specialization) or borrowing it (a local co-investor)?</a:t>
            </a:r>
            <a:endParaRPr lang="en-US" sz="1500" dirty="0"/>
          </a:p>
        </p:txBody>
      </p:sp>
      <p:sp>
        <p:nvSpPr>
          <p:cNvPr id="11" name="Shape 9"/>
          <p:cNvSpPr/>
          <p:nvPr/>
        </p:nvSpPr>
        <p:spPr>
          <a:xfrm>
            <a:off x="457200" y="4800600"/>
            <a:ext cx="11247120" cy="1188720"/>
          </a:xfrm>
          <a:prstGeom prst="rect">
            <a:avLst/>
          </a:prstGeom>
          <a:solidFill>
            <a:srgbClr val="E7E6E6"/>
          </a:solidFill>
          <a:ln w="12700">
            <a:solidFill>
              <a:srgbClr val="E7E6E6"/>
            </a:solidFill>
            <a:prstDash val="solid"/>
          </a:ln>
        </p:spPr>
      </p:sp>
      <p:sp>
        <p:nvSpPr>
          <p:cNvPr id="12" name="Text 10"/>
          <p:cNvSpPr txBox="1"/>
          <p:nvPr/>
        </p:nvSpPr>
        <p:spPr>
          <a:xfrm>
            <a:off x="731520" y="4910328"/>
            <a:ext cx="10698480" cy="320040"/>
          </a:xfrm>
          <a:prstGeom prst="rect">
            <a:avLst/>
          </a:prstGeom>
          <a:noFill/>
          <a:ln/>
        </p:spPr>
        <p:txBody>
          <a:bodyPr wrap="square" lIns="0" tIns="0" rIns="0" bIns="0" rtlCol="0" anchor="t"/>
          <a:lstStyle/>
          <a:p>
            <a:pPr algn="ctr" indent="0" marL="0">
              <a:buNone/>
            </a:pPr>
            <a:r>
              <a:rPr lang="en-US" sz="1800" b="1" dirty="0">
                <a:solidFill>
                  <a:srgbClr val="000000"/>
                </a:solidFill>
                <a:latin typeface="Times New Roman" pitchFamily="34" charset="0"/>
                <a:ea typeface="Times New Roman" pitchFamily="34" charset="-122"/>
                <a:cs typeface="Times New Roman" pitchFamily="34" charset="-120"/>
              </a:rPr>
              <a:t>In one line</a:t>
            </a:r>
            <a:endParaRPr lang="en-US" sz="1800" dirty="0"/>
          </a:p>
        </p:txBody>
      </p:sp>
      <p:sp>
        <p:nvSpPr>
          <p:cNvPr id="13" name="Text 11"/>
          <p:cNvSpPr txBox="1"/>
          <p:nvPr/>
        </p:nvSpPr>
        <p:spPr>
          <a:xfrm>
            <a:off x="731520" y="5257800"/>
            <a:ext cx="10698480" cy="640080"/>
          </a:xfrm>
          <a:prstGeom prst="rect">
            <a:avLst/>
          </a:prstGeom>
          <a:noFill/>
          <a:ln/>
        </p:spPr>
        <p:txBody>
          <a:bodyPr wrap="square" lIns="0" tIns="0" rIns="0" bIns="0" rtlCol="0" anchor="ctr"/>
          <a:lstStyle/>
          <a:p>
            <a:pPr algn="ctr" indent="0" marL="0">
              <a:buNone/>
            </a:pPr>
            <a:r>
              <a:rPr lang="en-US" sz="1500" dirty="0">
                <a:solidFill>
                  <a:srgbClr val="1B1B2F"/>
                </a:solidFill>
                <a:latin typeface="Times New Roman" pitchFamily="34" charset="0"/>
                <a:ea typeface="Times New Roman" pitchFamily="34" charset="-122"/>
                <a:cs typeface="Times New Roman" pitchFamily="34" charset="-120"/>
              </a:rPr>
              <a:t>Integration has harmonized many formal rules, but norms, networks and enforcement remain national. I test which distances survive, and which remedy works against which distance.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57200"/>
            <a:ext cx="11247120" cy="594360"/>
          </a:xfrm>
          <a:prstGeom prst="rect">
            <a:avLst/>
          </a:prstGeom>
          <a:noFill/>
          <a:ln/>
        </p:spPr>
        <p:txBody>
          <a:bodyPr wrap="square" lIns="0" tIns="0" rIns="0" bIns="0" rtlCol="0" anchor="ctr"/>
          <a:lstStyle/>
          <a:p>
            <a:pPr indent="0" marL="0">
              <a:buNone/>
            </a:pPr>
            <a:r>
              <a:rPr lang="en-US" sz="2400" b="1" dirty="0">
                <a:solidFill>
                  <a:srgbClr val="000000"/>
                </a:solidFill>
                <a:latin typeface="Times New Roman" pitchFamily="34" charset="0"/>
                <a:ea typeface="Times New Roman" pitchFamily="34" charset="-122"/>
                <a:cs typeface="Times New Roman" pitchFamily="34" charset="-120"/>
              </a:rPr>
              <a:t>Practical relevance: cross-border VC is common, but it pays less</a:t>
            </a:r>
            <a:endParaRPr lang="en-US" sz="2400" dirty="0"/>
          </a:p>
        </p:txBody>
      </p:sp>
      <p:sp>
        <p:nvSpPr>
          <p:cNvPr id="3" name="Text 1"/>
          <p:cNvSpPr txBox="1"/>
          <p:nvPr/>
        </p:nvSpPr>
        <p:spPr>
          <a:xfrm>
            <a:off x="11247120" y="6492240"/>
            <a:ext cx="685800" cy="228600"/>
          </a:xfrm>
          <a:prstGeom prst="rect">
            <a:avLst/>
          </a:prstGeom>
          <a:noFill/>
          <a:ln/>
        </p:spPr>
        <p:txBody>
          <a:bodyPr wrap="square" lIns="0" tIns="0" rIns="0" bIns="0" rtlCol="0" anchor="ctr"/>
          <a:lstStyle/>
          <a:p>
            <a:pPr algn="r" indent="0" marL="0">
              <a:buNone/>
            </a:pPr>
            <a:r>
              <a:rPr lang="en-US" sz="900" dirty="0">
                <a:solidFill>
                  <a:srgbClr val="5A5F73"/>
                </a:solidFill>
                <a:latin typeface="Times New Roman" pitchFamily="34" charset="0"/>
                <a:ea typeface="Times New Roman" pitchFamily="34" charset="-122"/>
                <a:cs typeface="Times New Roman" pitchFamily="34" charset="-120"/>
              </a:rPr>
              <a:t>2 / 11</a:t>
            </a:r>
            <a:endParaRPr lang="en-US" sz="900" dirty="0"/>
          </a:p>
        </p:txBody>
      </p:sp>
      <p:sp>
        <p:nvSpPr>
          <p:cNvPr id="4" name="Shape 2"/>
          <p:cNvSpPr/>
          <p:nvPr/>
        </p:nvSpPr>
        <p:spPr>
          <a:xfrm>
            <a:off x="457200" y="1325880"/>
            <a:ext cx="3657600" cy="2148840"/>
          </a:xfrm>
          <a:prstGeom prst="rect">
            <a:avLst/>
          </a:prstGeom>
          <a:solidFill>
            <a:srgbClr val="E7E6E6"/>
          </a:solidFill>
          <a:ln w="12700">
            <a:solidFill>
              <a:srgbClr val="E7E6E6"/>
            </a:solidFill>
            <a:prstDash val="solid"/>
          </a:ln>
        </p:spPr>
      </p:sp>
      <p:sp>
        <p:nvSpPr>
          <p:cNvPr id="5" name="Text 3"/>
          <p:cNvSpPr txBox="1"/>
          <p:nvPr/>
        </p:nvSpPr>
        <p:spPr>
          <a:xfrm>
            <a:off x="457200" y="1417320"/>
            <a:ext cx="3657600" cy="777240"/>
          </a:xfrm>
          <a:prstGeom prst="rect">
            <a:avLst/>
          </a:prstGeom>
          <a:noFill/>
          <a:ln/>
        </p:spPr>
        <p:txBody>
          <a:bodyPr wrap="square" lIns="0" tIns="0" rIns="0" bIns="0" rtlCol="0" anchor="ctr"/>
          <a:lstStyle/>
          <a:p>
            <a:pPr algn="ctr" indent="0" marL="0">
              <a:buNone/>
            </a:pPr>
            <a:r>
              <a:rPr lang="en-US" sz="4000" b="1" dirty="0">
                <a:solidFill>
                  <a:srgbClr val="000000"/>
                </a:solidFill>
                <a:latin typeface="Times New Roman" pitchFamily="34" charset="0"/>
                <a:ea typeface="Times New Roman" pitchFamily="34" charset="-122"/>
                <a:cs typeface="Times New Roman" pitchFamily="34" charset="-120"/>
              </a:rPr>
              <a:t>30%</a:t>
            </a:r>
            <a:endParaRPr lang="en-US" sz="4000" dirty="0"/>
          </a:p>
        </p:txBody>
      </p:sp>
      <p:sp>
        <p:nvSpPr>
          <p:cNvPr id="6" name="Text 4"/>
          <p:cNvSpPr txBox="1"/>
          <p:nvPr/>
        </p:nvSpPr>
        <p:spPr>
          <a:xfrm>
            <a:off x="685800" y="2212848"/>
            <a:ext cx="3200400" cy="868680"/>
          </a:xfrm>
          <a:prstGeom prst="rect">
            <a:avLst/>
          </a:prstGeom>
          <a:noFill/>
          <a:ln/>
        </p:spPr>
        <p:txBody>
          <a:bodyPr wrap="square" lIns="0" tIns="0" rIns="0" bIns="0" rtlCol="0" anchor="ctr"/>
          <a:lstStyle/>
          <a:p>
            <a:pPr algn="ctr" indent="0" marL="0">
              <a:buNone/>
            </a:pPr>
            <a:r>
              <a:rPr lang="en-US" sz="1300" dirty="0">
                <a:solidFill>
                  <a:srgbClr val="1B1B2F"/>
                </a:solidFill>
                <a:latin typeface="Times New Roman" pitchFamily="34" charset="0"/>
                <a:ea typeface="Times New Roman" pitchFamily="34" charset="-122"/>
                <a:cs typeface="Times New Roman" pitchFamily="34" charset="-120"/>
              </a:rPr>
              <a:t>of VC investments were cross-border in 2020, up from 20% in 2000</a:t>
            </a:r>
            <a:endParaRPr lang="en-US" sz="1300" dirty="0"/>
          </a:p>
        </p:txBody>
      </p:sp>
      <p:sp>
        <p:nvSpPr>
          <p:cNvPr id="7" name="Text 5"/>
          <p:cNvSpPr txBox="1"/>
          <p:nvPr/>
        </p:nvSpPr>
        <p:spPr>
          <a:xfrm>
            <a:off x="685800" y="3108960"/>
            <a:ext cx="3200400" cy="274320"/>
          </a:xfrm>
          <a:prstGeom prst="rect">
            <a:avLst/>
          </a:prstGeom>
          <a:noFill/>
          <a:ln/>
        </p:spPr>
        <p:txBody>
          <a:bodyPr wrap="square" lIns="0" tIns="0" rIns="0" bIns="0" rtlCol="0" anchor="t"/>
          <a:lstStyle/>
          <a:p>
            <a:pPr algn="ctr" indent="0" marL="0">
              <a:buNone/>
            </a:pPr>
            <a:r>
              <a:rPr lang="en-US" sz="1000" i="1" dirty="0">
                <a:solidFill>
                  <a:srgbClr val="5A5F73"/>
                </a:solidFill>
                <a:latin typeface="Times New Roman" pitchFamily="34" charset="0"/>
                <a:ea typeface="Times New Roman" pitchFamily="34" charset="-122"/>
                <a:cs typeface="Times New Roman" pitchFamily="34" charset="-120"/>
              </a:rPr>
              <a:t>Preqin, in Kollmann et al. (2025)</a:t>
            </a:r>
            <a:endParaRPr lang="en-US" sz="1000" dirty="0"/>
          </a:p>
        </p:txBody>
      </p:sp>
      <p:sp>
        <p:nvSpPr>
          <p:cNvPr id="8" name="Shape 6"/>
          <p:cNvSpPr/>
          <p:nvPr/>
        </p:nvSpPr>
        <p:spPr>
          <a:xfrm>
            <a:off x="4251960" y="1325880"/>
            <a:ext cx="3657600" cy="2148840"/>
          </a:xfrm>
          <a:prstGeom prst="rect">
            <a:avLst/>
          </a:prstGeom>
          <a:solidFill>
            <a:srgbClr val="E7E6E6"/>
          </a:solidFill>
          <a:ln w="12700">
            <a:solidFill>
              <a:srgbClr val="E7E6E6"/>
            </a:solidFill>
            <a:prstDash val="solid"/>
          </a:ln>
        </p:spPr>
      </p:sp>
      <p:sp>
        <p:nvSpPr>
          <p:cNvPr id="9" name="Text 7"/>
          <p:cNvSpPr txBox="1"/>
          <p:nvPr/>
        </p:nvSpPr>
        <p:spPr>
          <a:xfrm>
            <a:off x="4251960" y="1417320"/>
            <a:ext cx="3657600" cy="777240"/>
          </a:xfrm>
          <a:prstGeom prst="rect">
            <a:avLst/>
          </a:prstGeom>
          <a:noFill/>
          <a:ln/>
        </p:spPr>
        <p:txBody>
          <a:bodyPr wrap="square" lIns="0" tIns="0" rIns="0" bIns="0" rtlCol="0" anchor="ctr"/>
          <a:lstStyle/>
          <a:p>
            <a:pPr algn="ctr" indent="0" marL="0">
              <a:buNone/>
            </a:pPr>
            <a:r>
              <a:rPr lang="en-US" sz="4000" b="1" dirty="0">
                <a:solidFill>
                  <a:srgbClr val="000000"/>
                </a:solidFill>
                <a:latin typeface="Times New Roman" pitchFamily="34" charset="0"/>
                <a:ea typeface="Times New Roman" pitchFamily="34" charset="-122"/>
                <a:cs typeface="Times New Roman" pitchFamily="34" charset="-120"/>
              </a:rPr>
              <a:t>57%</a:t>
            </a:r>
            <a:endParaRPr lang="en-US" sz="4000" dirty="0"/>
          </a:p>
        </p:txBody>
      </p:sp>
      <p:sp>
        <p:nvSpPr>
          <p:cNvPr id="10" name="Text 8"/>
          <p:cNvSpPr txBox="1"/>
          <p:nvPr/>
        </p:nvSpPr>
        <p:spPr>
          <a:xfrm>
            <a:off x="4480560" y="2212848"/>
            <a:ext cx="3200400" cy="868680"/>
          </a:xfrm>
          <a:prstGeom prst="rect">
            <a:avLst/>
          </a:prstGeom>
          <a:noFill/>
          <a:ln/>
        </p:spPr>
        <p:txBody>
          <a:bodyPr wrap="square" lIns="0" tIns="0" rIns="0" bIns="0" rtlCol="0" anchor="ctr"/>
          <a:lstStyle/>
          <a:p>
            <a:pPr algn="ctr" indent="0" marL="0">
              <a:buNone/>
            </a:pPr>
            <a:r>
              <a:rPr lang="en-US" sz="1300" dirty="0">
                <a:solidFill>
                  <a:srgbClr val="1B1B2F"/>
                </a:solidFill>
                <a:latin typeface="Times New Roman" pitchFamily="34" charset="0"/>
                <a:ea typeface="Times New Roman" pitchFamily="34" charset="-122"/>
                <a:cs typeface="Times New Roman" pitchFamily="34" charset="-120"/>
              </a:rPr>
              <a:t>of cross-border deals include a local VC co-investor</a:t>
            </a:r>
            <a:endParaRPr lang="en-US" sz="1300" dirty="0"/>
          </a:p>
        </p:txBody>
      </p:sp>
      <p:sp>
        <p:nvSpPr>
          <p:cNvPr id="11" name="Text 9"/>
          <p:cNvSpPr txBox="1"/>
          <p:nvPr/>
        </p:nvSpPr>
        <p:spPr>
          <a:xfrm>
            <a:off x="4480560" y="3108960"/>
            <a:ext cx="3200400" cy="274320"/>
          </a:xfrm>
          <a:prstGeom prst="rect">
            <a:avLst/>
          </a:prstGeom>
          <a:noFill/>
          <a:ln/>
        </p:spPr>
        <p:txBody>
          <a:bodyPr wrap="square" lIns="0" tIns="0" rIns="0" bIns="0" rtlCol="0" anchor="t"/>
          <a:lstStyle/>
          <a:p>
            <a:pPr algn="ctr" indent="0" marL="0">
              <a:buNone/>
            </a:pPr>
            <a:r>
              <a:rPr lang="en-US" sz="1000" i="1" dirty="0">
                <a:solidFill>
                  <a:srgbClr val="5A5F73"/>
                </a:solidFill>
                <a:latin typeface="Times New Roman" pitchFamily="34" charset="0"/>
                <a:ea typeface="Times New Roman" pitchFamily="34" charset="-122"/>
                <a:cs typeface="Times New Roman" pitchFamily="34" charset="-120"/>
              </a:rPr>
              <a:t>Tykvová &amp; Schertler (2014)</a:t>
            </a:r>
            <a:endParaRPr lang="en-US" sz="1000" dirty="0"/>
          </a:p>
        </p:txBody>
      </p:sp>
      <p:sp>
        <p:nvSpPr>
          <p:cNvPr id="12" name="Shape 10"/>
          <p:cNvSpPr/>
          <p:nvPr/>
        </p:nvSpPr>
        <p:spPr>
          <a:xfrm>
            <a:off x="8046720" y="1325880"/>
            <a:ext cx="3657600" cy="2148840"/>
          </a:xfrm>
          <a:prstGeom prst="rect">
            <a:avLst/>
          </a:prstGeom>
          <a:solidFill>
            <a:srgbClr val="E7E6E6"/>
          </a:solidFill>
          <a:ln w="12700">
            <a:solidFill>
              <a:srgbClr val="E7E6E6"/>
            </a:solidFill>
            <a:prstDash val="solid"/>
          </a:ln>
        </p:spPr>
      </p:sp>
      <p:sp>
        <p:nvSpPr>
          <p:cNvPr id="13" name="Text 11"/>
          <p:cNvSpPr txBox="1"/>
          <p:nvPr/>
        </p:nvSpPr>
        <p:spPr>
          <a:xfrm>
            <a:off x="8046720" y="1417320"/>
            <a:ext cx="3657600" cy="777240"/>
          </a:xfrm>
          <a:prstGeom prst="rect">
            <a:avLst/>
          </a:prstGeom>
          <a:noFill/>
          <a:ln/>
        </p:spPr>
        <p:txBody>
          <a:bodyPr wrap="square" lIns="0" tIns="0" rIns="0" bIns="0" rtlCol="0" anchor="ctr"/>
          <a:lstStyle/>
          <a:p>
            <a:pPr algn="ctr" indent="0" marL="0">
              <a:buNone/>
            </a:pPr>
            <a:r>
              <a:rPr lang="en-US" sz="4000" b="1" dirty="0">
                <a:solidFill>
                  <a:srgbClr val="000000"/>
                </a:solidFill>
                <a:latin typeface="Times New Roman" pitchFamily="34" charset="0"/>
                <a:ea typeface="Times New Roman" pitchFamily="34" charset="-122"/>
                <a:cs typeface="Times New Roman" pitchFamily="34" charset="-120"/>
              </a:rPr>
              <a:t>↓</a:t>
            </a:r>
            <a:endParaRPr lang="en-US" sz="4000" dirty="0"/>
          </a:p>
        </p:txBody>
      </p:sp>
      <p:sp>
        <p:nvSpPr>
          <p:cNvPr id="14" name="Text 12"/>
          <p:cNvSpPr txBox="1"/>
          <p:nvPr/>
        </p:nvSpPr>
        <p:spPr>
          <a:xfrm>
            <a:off x="8275320" y="2212848"/>
            <a:ext cx="3200400" cy="868680"/>
          </a:xfrm>
          <a:prstGeom prst="rect">
            <a:avLst/>
          </a:prstGeom>
          <a:noFill/>
          <a:ln/>
        </p:spPr>
        <p:txBody>
          <a:bodyPr wrap="square" lIns="0" tIns="0" rIns="0" bIns="0" rtlCol="0" anchor="ctr"/>
          <a:lstStyle/>
          <a:p>
            <a:pPr algn="ctr" indent="0" marL="0">
              <a:buNone/>
            </a:pPr>
            <a:r>
              <a:rPr lang="en-US" sz="1300" dirty="0">
                <a:solidFill>
                  <a:srgbClr val="1B1B2F"/>
                </a:solidFill>
                <a:latin typeface="Times New Roman" pitchFamily="34" charset="0"/>
                <a:ea typeface="Times New Roman" pitchFamily="34" charset="-122"/>
                <a:cs typeface="Times New Roman" pitchFamily="34" charset="-120"/>
              </a:rPr>
              <a:t>Cross-border deals underperform equivalent domestic deals; in Europe, multinational VC backing goes with lower startup sales and ROA</a:t>
            </a:r>
            <a:endParaRPr lang="en-US" sz="1300" dirty="0"/>
          </a:p>
        </p:txBody>
      </p:sp>
      <p:sp>
        <p:nvSpPr>
          <p:cNvPr id="15" name="Text 13"/>
          <p:cNvSpPr txBox="1"/>
          <p:nvPr/>
        </p:nvSpPr>
        <p:spPr>
          <a:xfrm>
            <a:off x="8275320" y="3108960"/>
            <a:ext cx="3200400" cy="274320"/>
          </a:xfrm>
          <a:prstGeom prst="rect">
            <a:avLst/>
          </a:prstGeom>
          <a:noFill/>
          <a:ln/>
        </p:spPr>
        <p:txBody>
          <a:bodyPr wrap="square" lIns="0" tIns="0" rIns="0" bIns="0" rtlCol="0" anchor="t"/>
          <a:lstStyle/>
          <a:p>
            <a:pPr algn="ctr" indent="0" marL="0">
              <a:buNone/>
            </a:pPr>
            <a:r>
              <a:rPr lang="en-US" sz="1000" i="1" dirty="0">
                <a:solidFill>
                  <a:srgbClr val="5A5F73"/>
                </a:solidFill>
                <a:latin typeface="Times New Roman" pitchFamily="34" charset="0"/>
                <a:ea typeface="Times New Roman" pitchFamily="34" charset="-122"/>
                <a:cs typeface="Times New Roman" pitchFamily="34" charset="-120"/>
              </a:rPr>
              <a:t>Buchner et al. (2018); Liu et al. (2026)</a:t>
            </a:r>
            <a:endParaRPr lang="en-US" sz="1000" dirty="0"/>
          </a:p>
        </p:txBody>
      </p:sp>
      <p:sp>
        <p:nvSpPr>
          <p:cNvPr id="16" name="Shape 14"/>
          <p:cNvSpPr/>
          <p:nvPr/>
        </p:nvSpPr>
        <p:spPr>
          <a:xfrm>
            <a:off x="457200" y="3794760"/>
            <a:ext cx="3657600" cy="502920"/>
          </a:xfrm>
          <a:prstGeom prst="rect">
            <a:avLst/>
          </a:prstGeom>
          <a:solidFill>
            <a:srgbClr val="000000"/>
          </a:solidFill>
          <a:ln w="12700">
            <a:solidFill>
              <a:srgbClr val="000000"/>
            </a:solidFill>
            <a:prstDash val="solid"/>
          </a:ln>
        </p:spPr>
      </p:sp>
      <p:sp>
        <p:nvSpPr>
          <p:cNvPr id="17" name="Text 15"/>
          <p:cNvSpPr txBox="1"/>
          <p:nvPr/>
        </p:nvSpPr>
        <p:spPr>
          <a:xfrm>
            <a:off x="457200" y="3794760"/>
            <a:ext cx="365760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Times New Roman" pitchFamily="34" charset="0"/>
                <a:ea typeface="Times New Roman" pitchFamily="34" charset="-122"/>
                <a:cs typeface="Times New Roman" pitchFamily="34" charset="-120"/>
              </a:rPr>
              <a:t>VC investors</a:t>
            </a:r>
            <a:endParaRPr lang="en-US" sz="1600" dirty="0"/>
          </a:p>
        </p:txBody>
      </p:sp>
      <p:sp>
        <p:nvSpPr>
          <p:cNvPr id="18" name="Shape 16"/>
          <p:cNvSpPr/>
          <p:nvPr/>
        </p:nvSpPr>
        <p:spPr>
          <a:xfrm>
            <a:off x="457200" y="4297680"/>
            <a:ext cx="3657600" cy="1600200"/>
          </a:xfrm>
          <a:prstGeom prst="rect">
            <a:avLst/>
          </a:prstGeom>
          <a:solidFill>
            <a:srgbClr val="F4F6FB"/>
          </a:solidFill>
          <a:ln w="12700">
            <a:solidFill>
              <a:srgbClr val="F4F6FB"/>
            </a:solidFill>
            <a:prstDash val="solid"/>
          </a:ln>
        </p:spPr>
      </p:sp>
      <p:sp>
        <p:nvSpPr>
          <p:cNvPr id="19" name="Text 17"/>
          <p:cNvSpPr txBox="1"/>
          <p:nvPr/>
        </p:nvSpPr>
        <p:spPr>
          <a:xfrm>
            <a:off x="685800" y="4434840"/>
            <a:ext cx="3200400" cy="1325880"/>
          </a:xfrm>
          <a:prstGeom prst="rect">
            <a:avLst/>
          </a:prstGeom>
          <a:noFill/>
          <a:ln/>
        </p:spPr>
        <p:txBody>
          <a:bodyPr wrap="square" lIns="0" tIns="0" rIns="0" bIns="0" rtlCol="0" anchor="ctr"/>
          <a:lstStyle/>
          <a:p>
            <a:pPr indent="0" marL="0">
              <a:buNone/>
            </a:pPr>
            <a:r>
              <a:rPr lang="en-US" sz="1400" dirty="0">
                <a:solidFill>
                  <a:srgbClr val="1B1B2F"/>
                </a:solidFill>
                <a:latin typeface="Times New Roman" pitchFamily="34" charset="0"/>
                <a:ea typeface="Times New Roman" pitchFamily="34" charset="-122"/>
                <a:cs typeface="Times New Roman" pitchFamily="34" charset="-120"/>
              </a:rPr>
              <a:t>When to hire sector expertise and when to bring in a local partner before investing abroad.</a:t>
            </a:r>
            <a:endParaRPr lang="en-US" sz="1400" dirty="0"/>
          </a:p>
        </p:txBody>
      </p:sp>
      <p:sp>
        <p:nvSpPr>
          <p:cNvPr id="20" name="Shape 18"/>
          <p:cNvSpPr/>
          <p:nvPr/>
        </p:nvSpPr>
        <p:spPr>
          <a:xfrm>
            <a:off x="4251960" y="3794760"/>
            <a:ext cx="3657600" cy="502920"/>
          </a:xfrm>
          <a:prstGeom prst="rect">
            <a:avLst/>
          </a:prstGeom>
          <a:solidFill>
            <a:srgbClr val="000000"/>
          </a:solidFill>
          <a:ln w="12700">
            <a:solidFill>
              <a:srgbClr val="000000"/>
            </a:solidFill>
            <a:prstDash val="solid"/>
          </a:ln>
        </p:spPr>
      </p:sp>
      <p:sp>
        <p:nvSpPr>
          <p:cNvPr id="21" name="Text 19"/>
          <p:cNvSpPr txBox="1"/>
          <p:nvPr/>
        </p:nvSpPr>
        <p:spPr>
          <a:xfrm>
            <a:off x="4251960" y="3794760"/>
            <a:ext cx="365760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Times New Roman" pitchFamily="34" charset="0"/>
                <a:ea typeface="Times New Roman" pitchFamily="34" charset="-122"/>
                <a:cs typeface="Times New Roman" pitchFamily="34" charset="-120"/>
              </a:rPr>
              <a:t>Founders</a:t>
            </a:r>
            <a:endParaRPr lang="en-US" sz="1600" dirty="0"/>
          </a:p>
        </p:txBody>
      </p:sp>
      <p:sp>
        <p:nvSpPr>
          <p:cNvPr id="22" name="Shape 20"/>
          <p:cNvSpPr/>
          <p:nvPr/>
        </p:nvSpPr>
        <p:spPr>
          <a:xfrm>
            <a:off x="4251960" y="4297680"/>
            <a:ext cx="3657600" cy="1600200"/>
          </a:xfrm>
          <a:prstGeom prst="rect">
            <a:avLst/>
          </a:prstGeom>
          <a:solidFill>
            <a:srgbClr val="F4F6FB"/>
          </a:solidFill>
          <a:ln w="12700">
            <a:solidFill>
              <a:srgbClr val="F4F6FB"/>
            </a:solidFill>
            <a:prstDash val="solid"/>
          </a:ln>
        </p:spPr>
      </p:sp>
      <p:sp>
        <p:nvSpPr>
          <p:cNvPr id="23" name="Text 21"/>
          <p:cNvSpPr txBox="1"/>
          <p:nvPr/>
        </p:nvSpPr>
        <p:spPr>
          <a:xfrm>
            <a:off x="4480560" y="4434840"/>
            <a:ext cx="3200400" cy="1325880"/>
          </a:xfrm>
          <a:prstGeom prst="rect">
            <a:avLst/>
          </a:prstGeom>
          <a:noFill/>
          <a:ln/>
        </p:spPr>
        <p:txBody>
          <a:bodyPr wrap="square" lIns="0" tIns="0" rIns="0" bIns="0" rtlCol="0" anchor="ctr"/>
          <a:lstStyle/>
          <a:p>
            <a:pPr indent="0" marL="0">
              <a:buNone/>
            </a:pPr>
            <a:r>
              <a:rPr lang="en-US" sz="1400" dirty="0">
                <a:solidFill>
                  <a:srgbClr val="1B1B2F"/>
                </a:solidFill>
                <a:latin typeface="Times New Roman" pitchFamily="34" charset="0"/>
                <a:ea typeface="Times New Roman" pitchFamily="34" charset="-122"/>
                <a:cs typeface="Times New Roman" pitchFamily="34" charset="-120"/>
              </a:rPr>
              <a:t>Which foreign investors add value, and whether a local co-investor should be in the round.</a:t>
            </a:r>
            <a:endParaRPr lang="en-US" sz="1400" dirty="0"/>
          </a:p>
        </p:txBody>
      </p:sp>
      <p:sp>
        <p:nvSpPr>
          <p:cNvPr id="24" name="Shape 22"/>
          <p:cNvSpPr/>
          <p:nvPr/>
        </p:nvSpPr>
        <p:spPr>
          <a:xfrm>
            <a:off x="8046720" y="3794760"/>
            <a:ext cx="3657600" cy="502920"/>
          </a:xfrm>
          <a:prstGeom prst="rect">
            <a:avLst/>
          </a:prstGeom>
          <a:solidFill>
            <a:srgbClr val="000000"/>
          </a:solidFill>
          <a:ln w="12700">
            <a:solidFill>
              <a:srgbClr val="000000"/>
            </a:solidFill>
            <a:prstDash val="solid"/>
          </a:ln>
        </p:spPr>
      </p:sp>
      <p:sp>
        <p:nvSpPr>
          <p:cNvPr id="25" name="Text 23"/>
          <p:cNvSpPr txBox="1"/>
          <p:nvPr/>
        </p:nvSpPr>
        <p:spPr>
          <a:xfrm>
            <a:off x="8046720" y="3794760"/>
            <a:ext cx="365760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Times New Roman" pitchFamily="34" charset="0"/>
                <a:ea typeface="Times New Roman" pitchFamily="34" charset="-122"/>
                <a:cs typeface="Times New Roman" pitchFamily="34" charset="-120"/>
              </a:rPr>
              <a:t>EU policy</a:t>
            </a:r>
            <a:endParaRPr lang="en-US" sz="1600" dirty="0"/>
          </a:p>
        </p:txBody>
      </p:sp>
      <p:sp>
        <p:nvSpPr>
          <p:cNvPr id="26" name="Shape 24"/>
          <p:cNvSpPr/>
          <p:nvPr/>
        </p:nvSpPr>
        <p:spPr>
          <a:xfrm>
            <a:off x="8046720" y="4297680"/>
            <a:ext cx="3657600" cy="1600200"/>
          </a:xfrm>
          <a:prstGeom prst="rect">
            <a:avLst/>
          </a:prstGeom>
          <a:solidFill>
            <a:srgbClr val="F4F6FB"/>
          </a:solidFill>
          <a:ln w="12700">
            <a:solidFill>
              <a:srgbClr val="F4F6FB"/>
            </a:solidFill>
            <a:prstDash val="solid"/>
          </a:ln>
        </p:spPr>
      </p:sp>
      <p:sp>
        <p:nvSpPr>
          <p:cNvPr id="27" name="Text 25"/>
          <p:cNvSpPr txBox="1"/>
          <p:nvPr/>
        </p:nvSpPr>
        <p:spPr>
          <a:xfrm>
            <a:off x="8275320" y="4434840"/>
            <a:ext cx="3200400" cy="1325880"/>
          </a:xfrm>
          <a:prstGeom prst="rect">
            <a:avLst/>
          </a:prstGeom>
          <a:noFill/>
          <a:ln/>
        </p:spPr>
        <p:txBody>
          <a:bodyPr wrap="square" lIns="0" tIns="0" rIns="0" bIns="0" rtlCol="0" anchor="ctr"/>
          <a:lstStyle/>
          <a:p>
            <a:pPr indent="0" marL="0">
              <a:buNone/>
            </a:pPr>
            <a:r>
              <a:rPr lang="en-US" sz="1400" dirty="0">
                <a:solidFill>
                  <a:srgbClr val="1B1B2F"/>
                </a:solidFill>
                <a:latin typeface="Times New Roman" pitchFamily="34" charset="0"/>
                <a:ea typeface="Times New Roman" pitchFamily="34" charset="-122"/>
                <a:cs typeface="Times New Roman" pitchFamily="34" charset="-120"/>
              </a:rPr>
              <a:t>The 2025 Savings and Investments Union aims to integrate capital markets; national differences still shape VC flows (Bosio et al., 2025).</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57200"/>
            <a:ext cx="11247120" cy="594360"/>
          </a:xfrm>
          <a:prstGeom prst="rect">
            <a:avLst/>
          </a:prstGeom>
          <a:noFill/>
          <a:ln/>
        </p:spPr>
        <p:txBody>
          <a:bodyPr wrap="square" lIns="0" tIns="0" rIns="0" bIns="0" rtlCol="0" anchor="ctr"/>
          <a:lstStyle/>
          <a:p>
            <a:pPr indent="0" marL="0">
              <a:buNone/>
            </a:pPr>
            <a:r>
              <a:rPr lang="en-US" sz="2400" b="1" dirty="0">
                <a:solidFill>
                  <a:srgbClr val="000000"/>
                </a:solidFill>
                <a:latin typeface="Times New Roman" pitchFamily="34" charset="0"/>
                <a:ea typeface="Times New Roman" pitchFamily="34" charset="-122"/>
                <a:cs typeface="Times New Roman" pitchFamily="34" charset="-120"/>
              </a:rPr>
              <a:t>What we know: distance hurts, distances differ, and some resources offset it</a:t>
            </a:r>
            <a:endParaRPr lang="en-US" sz="2400" dirty="0"/>
          </a:p>
        </p:txBody>
      </p:sp>
      <p:sp>
        <p:nvSpPr>
          <p:cNvPr id="3" name="Text 1"/>
          <p:cNvSpPr txBox="1"/>
          <p:nvPr/>
        </p:nvSpPr>
        <p:spPr>
          <a:xfrm>
            <a:off x="11247120" y="6492240"/>
            <a:ext cx="685800" cy="228600"/>
          </a:xfrm>
          <a:prstGeom prst="rect">
            <a:avLst/>
          </a:prstGeom>
          <a:noFill/>
          <a:ln/>
        </p:spPr>
        <p:txBody>
          <a:bodyPr wrap="square" lIns="0" tIns="0" rIns="0" bIns="0" rtlCol="0" anchor="ctr"/>
          <a:lstStyle/>
          <a:p>
            <a:pPr algn="r" indent="0" marL="0">
              <a:buNone/>
            </a:pPr>
            <a:r>
              <a:rPr lang="en-US" sz="900" dirty="0">
                <a:solidFill>
                  <a:srgbClr val="5A5F73"/>
                </a:solidFill>
                <a:latin typeface="Times New Roman" pitchFamily="34" charset="0"/>
                <a:ea typeface="Times New Roman" pitchFamily="34" charset="-122"/>
                <a:cs typeface="Times New Roman" pitchFamily="34" charset="-120"/>
              </a:rPr>
              <a:t>3 / 11</a:t>
            </a:r>
            <a:endParaRPr lang="en-US" sz="900" dirty="0"/>
          </a:p>
        </p:txBody>
      </p:sp>
      <p:sp>
        <p:nvSpPr>
          <p:cNvPr id="4" name="Shape 2"/>
          <p:cNvSpPr/>
          <p:nvPr/>
        </p:nvSpPr>
        <p:spPr>
          <a:xfrm>
            <a:off x="457200" y="1325880"/>
            <a:ext cx="3657600" cy="3886200"/>
          </a:xfrm>
          <a:prstGeom prst="rect">
            <a:avLst/>
          </a:prstGeom>
          <a:solidFill>
            <a:srgbClr val="E7E6E6"/>
          </a:solidFill>
          <a:ln w="12700">
            <a:solidFill>
              <a:srgbClr val="E7E6E6"/>
            </a:solidFill>
            <a:prstDash val="solid"/>
          </a:ln>
        </p:spPr>
      </p:sp>
      <p:sp>
        <p:nvSpPr>
          <p:cNvPr id="5" name="Shape 3"/>
          <p:cNvSpPr/>
          <p:nvPr/>
        </p:nvSpPr>
        <p:spPr>
          <a:xfrm>
            <a:off x="640080" y="1508760"/>
            <a:ext cx="3291840" cy="731520"/>
          </a:xfrm>
          <a:prstGeom prst="rect">
            <a:avLst/>
          </a:prstGeom>
          <a:solidFill>
            <a:srgbClr val="000000"/>
          </a:solidFill>
          <a:ln w="12700">
            <a:solidFill>
              <a:srgbClr val="000000"/>
            </a:solidFill>
            <a:prstDash val="solid"/>
          </a:ln>
        </p:spPr>
      </p:sp>
      <p:sp>
        <p:nvSpPr>
          <p:cNvPr id="6" name="Text 4"/>
          <p:cNvSpPr txBox="1"/>
          <p:nvPr/>
        </p:nvSpPr>
        <p:spPr>
          <a:xfrm>
            <a:off x="640080" y="1508760"/>
            <a:ext cx="3291840"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Distance creates a liability of foreignness</a:t>
            </a:r>
            <a:endParaRPr lang="en-US" sz="1500" dirty="0"/>
          </a:p>
        </p:txBody>
      </p:sp>
      <p:sp>
        <p:nvSpPr>
          <p:cNvPr id="7" name="Text 5"/>
          <p:cNvSpPr txBox="1"/>
          <p:nvPr/>
        </p:nvSpPr>
        <p:spPr>
          <a:xfrm>
            <a:off x="685800" y="2423160"/>
            <a:ext cx="3200400" cy="2697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1B2F"/>
                </a:solidFill>
                <a:latin typeface="Times New Roman" pitchFamily="34" charset="0"/>
                <a:ea typeface="Times New Roman" pitchFamily="34" charset="-122"/>
                <a:cs typeface="Times New Roman" pitchFamily="34" charset="-120"/>
              </a:rPr>
              <a:t>Foreign VCs face higher information and monitoring costs (Zaheer, 1995; Devigne et al., 2018)</a:t>
            </a:r>
            <a:endParaRPr lang="en-US" sz="1400" dirty="0"/>
          </a:p>
          <a:p>
            <a:pPr marL="342900" indent="-342900">
              <a:spcAft>
                <a:spcPts val="600"/>
              </a:spcAft>
              <a:buSzPct val="100000"/>
              <a:buChar char="•"/>
            </a:pPr>
            <a:r>
              <a:rPr lang="en-US" sz="1400" dirty="0">
                <a:solidFill>
                  <a:srgbClr val="1B1B2F"/>
                </a:solidFill>
                <a:latin typeface="Times New Roman" pitchFamily="34" charset="0"/>
                <a:ea typeface="Times New Roman" pitchFamily="34" charset="-122"/>
                <a:cs typeface="Times New Roman" pitchFamily="34" charset="-120"/>
              </a:rPr>
              <a:t>Institutional and cultural distance lower exit success (Li et al., 2014)</a:t>
            </a:r>
            <a:endParaRPr lang="en-US" sz="1400" dirty="0"/>
          </a:p>
          <a:p>
            <a:pPr marL="342900" indent="-342900">
              <a:spcAft>
                <a:spcPts val="600"/>
              </a:spcAft>
              <a:buSzPct val="100000"/>
              <a:buChar char="•"/>
            </a:pPr>
            <a:r>
              <a:rPr lang="en-US" sz="1400" dirty="0">
                <a:solidFill>
                  <a:srgbClr val="1B1B2F"/>
                </a:solidFill>
                <a:latin typeface="Times New Roman" pitchFamily="34" charset="0"/>
                <a:ea typeface="Times New Roman" pitchFamily="34" charset="-122"/>
                <a:cs typeface="Times New Roman" pitchFamily="34" charset="-120"/>
              </a:rPr>
              <a:t>Cross-border deals exit later and earn lower returns (Espenlaub et al., 2015; Buchner et al., 2018)</a:t>
            </a:r>
            <a:endParaRPr lang="en-US" sz="1400" dirty="0"/>
          </a:p>
        </p:txBody>
      </p:sp>
      <p:sp>
        <p:nvSpPr>
          <p:cNvPr id="8" name="Shape 6"/>
          <p:cNvSpPr/>
          <p:nvPr/>
        </p:nvSpPr>
        <p:spPr>
          <a:xfrm>
            <a:off x="4251960" y="1325880"/>
            <a:ext cx="3657600" cy="3886200"/>
          </a:xfrm>
          <a:prstGeom prst="rect">
            <a:avLst/>
          </a:prstGeom>
          <a:solidFill>
            <a:srgbClr val="E7E6E6"/>
          </a:solidFill>
          <a:ln w="12700">
            <a:solidFill>
              <a:srgbClr val="E7E6E6"/>
            </a:solidFill>
            <a:prstDash val="solid"/>
          </a:ln>
        </p:spPr>
      </p:sp>
      <p:sp>
        <p:nvSpPr>
          <p:cNvPr id="9" name="Shape 7"/>
          <p:cNvSpPr/>
          <p:nvPr/>
        </p:nvSpPr>
        <p:spPr>
          <a:xfrm>
            <a:off x="4434840" y="1508760"/>
            <a:ext cx="3291840" cy="731520"/>
          </a:xfrm>
          <a:prstGeom prst="rect">
            <a:avLst/>
          </a:prstGeom>
          <a:solidFill>
            <a:srgbClr val="000000"/>
          </a:solidFill>
          <a:ln w="12700">
            <a:solidFill>
              <a:srgbClr val="000000"/>
            </a:solidFill>
            <a:prstDash val="solid"/>
          </a:ln>
        </p:spPr>
      </p:sp>
      <p:sp>
        <p:nvSpPr>
          <p:cNvPr id="10" name="Text 8"/>
          <p:cNvSpPr txBox="1"/>
          <p:nvPr/>
        </p:nvSpPr>
        <p:spPr>
          <a:xfrm>
            <a:off x="4434840" y="1508760"/>
            <a:ext cx="3291840"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Distances work through different mechanisms</a:t>
            </a:r>
            <a:endParaRPr lang="en-US" sz="1500" dirty="0"/>
          </a:p>
        </p:txBody>
      </p:sp>
      <p:sp>
        <p:nvSpPr>
          <p:cNvPr id="11" name="Text 9"/>
          <p:cNvSpPr txBox="1"/>
          <p:nvPr/>
        </p:nvSpPr>
        <p:spPr>
          <a:xfrm>
            <a:off x="4480560" y="2423160"/>
            <a:ext cx="3200400" cy="2697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1B2F"/>
                </a:solidFill>
                <a:latin typeface="Times New Roman" pitchFamily="34" charset="0"/>
                <a:ea typeface="Times New Roman" pitchFamily="34" charset="-122"/>
                <a:cs typeface="Times New Roman" pitchFamily="34" charset="-120"/>
              </a:rPr>
              <a:t>Institutional: legitimacy, sanctions, incompatible practices; cultural: trust and information sharing (Li et al., 2014)</a:t>
            </a:r>
            <a:endParaRPr lang="en-US" sz="1400" dirty="0"/>
          </a:p>
          <a:p>
            <a:pPr marL="342900" indent="-342900">
              <a:spcAft>
                <a:spcPts val="600"/>
              </a:spcAft>
              <a:buSzPct val="100000"/>
              <a:buChar char="•"/>
            </a:pPr>
            <a:r>
              <a:rPr lang="en-US" sz="1400" dirty="0">
                <a:solidFill>
                  <a:srgbClr val="1B1B2F"/>
                </a:solidFill>
                <a:latin typeface="Times New Roman" pitchFamily="34" charset="0"/>
                <a:ea typeface="Times New Roman" pitchFamily="34" charset="-122"/>
                <a:cs typeface="Times New Roman" pitchFamily="34" charset="-120"/>
              </a:rPr>
              <a:t>Choice of measure matters (Beugelsdijk et al., 2018)</a:t>
            </a:r>
            <a:endParaRPr lang="en-US" sz="1400" dirty="0"/>
          </a:p>
          <a:p>
            <a:pPr marL="342900" indent="-342900">
              <a:spcAft>
                <a:spcPts val="600"/>
              </a:spcAft>
              <a:buSzPct val="100000"/>
              <a:buChar char="•"/>
            </a:pPr>
            <a:r>
              <a:rPr lang="en-US" sz="1400" dirty="0">
                <a:solidFill>
                  <a:srgbClr val="1B1B2F"/>
                </a:solidFill>
                <a:latin typeface="Times New Roman" pitchFamily="34" charset="0"/>
                <a:ea typeface="Times New Roman" pitchFamily="34" charset="-122"/>
                <a:cs typeface="Times New Roman" pitchFamily="34" charset="-120"/>
              </a:rPr>
              <a:t>In Europe, normative and cultural distance reduce VC flows, regulative distance does not (Moore et al., 2015)</a:t>
            </a:r>
            <a:endParaRPr lang="en-US" sz="1400" dirty="0"/>
          </a:p>
        </p:txBody>
      </p:sp>
      <p:sp>
        <p:nvSpPr>
          <p:cNvPr id="12" name="Shape 10"/>
          <p:cNvSpPr/>
          <p:nvPr/>
        </p:nvSpPr>
        <p:spPr>
          <a:xfrm>
            <a:off x="8046720" y="1325880"/>
            <a:ext cx="3657600" cy="3886200"/>
          </a:xfrm>
          <a:prstGeom prst="rect">
            <a:avLst/>
          </a:prstGeom>
          <a:solidFill>
            <a:srgbClr val="E7E6E6"/>
          </a:solidFill>
          <a:ln w="12700">
            <a:solidFill>
              <a:srgbClr val="E7E6E6"/>
            </a:solidFill>
            <a:prstDash val="solid"/>
          </a:ln>
        </p:spPr>
      </p:sp>
      <p:sp>
        <p:nvSpPr>
          <p:cNvPr id="13" name="Shape 11"/>
          <p:cNvSpPr/>
          <p:nvPr/>
        </p:nvSpPr>
        <p:spPr>
          <a:xfrm>
            <a:off x="8229600" y="1508760"/>
            <a:ext cx="3291840" cy="731520"/>
          </a:xfrm>
          <a:prstGeom prst="rect">
            <a:avLst/>
          </a:prstGeom>
          <a:solidFill>
            <a:srgbClr val="000000"/>
          </a:solidFill>
          <a:ln w="12700">
            <a:solidFill>
              <a:srgbClr val="000000"/>
            </a:solidFill>
            <a:prstDash val="solid"/>
          </a:ln>
        </p:spPr>
      </p:sp>
      <p:sp>
        <p:nvSpPr>
          <p:cNvPr id="14" name="Text 12"/>
          <p:cNvSpPr txBox="1"/>
          <p:nvPr/>
        </p:nvSpPr>
        <p:spPr>
          <a:xfrm>
            <a:off x="8229600" y="1508760"/>
            <a:ext cx="3291840"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Firm resources can offset distance</a:t>
            </a:r>
            <a:endParaRPr lang="en-US" sz="1500" dirty="0"/>
          </a:p>
        </p:txBody>
      </p:sp>
      <p:sp>
        <p:nvSpPr>
          <p:cNvPr id="15" name="Text 13"/>
          <p:cNvSpPr txBox="1"/>
          <p:nvPr/>
        </p:nvSpPr>
        <p:spPr>
          <a:xfrm>
            <a:off x="8275320" y="2423160"/>
            <a:ext cx="3200400" cy="2697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1B2F"/>
                </a:solidFill>
                <a:latin typeface="Times New Roman" pitchFamily="34" charset="0"/>
                <a:ea typeface="Times New Roman" pitchFamily="34" charset="-122"/>
                <a:cs typeface="Times New Roman" pitchFamily="34" charset="-120"/>
              </a:rPr>
              <a:t>International experience offsets institutional, not cultural distance (Li et al., 2014)</a:t>
            </a:r>
            <a:endParaRPr lang="en-US" sz="1400" dirty="0"/>
          </a:p>
          <a:p>
            <a:pPr marL="342900" indent="-342900">
              <a:spcAft>
                <a:spcPts val="600"/>
              </a:spcAft>
              <a:buSzPct val="100000"/>
              <a:buChar char="•"/>
            </a:pPr>
            <a:r>
              <a:rPr lang="en-US" sz="1400" dirty="0">
                <a:solidFill>
                  <a:srgbClr val="1B1B2F"/>
                </a:solidFill>
                <a:latin typeface="Times New Roman" pitchFamily="34" charset="0"/>
                <a:ea typeface="Times New Roman" pitchFamily="34" charset="-122"/>
                <a:cs typeface="Times New Roman" pitchFamily="34" charset="-120"/>
              </a:rPr>
              <a:t>Local co-investors offset geographic, not institutional distance (Tykvová &amp; Schertler, 2014; Chemmanur et al., 2016)</a:t>
            </a:r>
            <a:endParaRPr lang="en-US" sz="1400" dirty="0"/>
          </a:p>
          <a:p>
            <a:pPr marL="342900" indent="-342900">
              <a:spcAft>
                <a:spcPts val="600"/>
              </a:spcAft>
              <a:buSzPct val="100000"/>
              <a:buChar char="•"/>
            </a:pPr>
            <a:r>
              <a:rPr lang="en-US" sz="1400" dirty="0">
                <a:solidFill>
                  <a:srgbClr val="1B1B2F"/>
                </a:solidFill>
                <a:latin typeface="Times New Roman" pitchFamily="34" charset="0"/>
                <a:ea typeface="Times New Roman" pitchFamily="34" charset="-122"/>
                <a:cs typeface="Times New Roman" pitchFamily="34" charset="-120"/>
              </a:rPr>
              <a:t>Specialists perform better and invest abroad more (Gompers et al., 2009; Nörthemann, 2023)</a:t>
            </a:r>
            <a:endParaRPr lang="en-US" sz="1400" dirty="0"/>
          </a:p>
        </p:txBody>
      </p:sp>
      <p:sp>
        <p:nvSpPr>
          <p:cNvPr id="16" name="Shape 14"/>
          <p:cNvSpPr/>
          <p:nvPr/>
        </p:nvSpPr>
        <p:spPr>
          <a:xfrm>
            <a:off x="457200" y="5394960"/>
            <a:ext cx="11247120" cy="731520"/>
          </a:xfrm>
          <a:prstGeom prst="rect">
            <a:avLst/>
          </a:prstGeom>
          <a:solidFill>
            <a:srgbClr val="000000"/>
          </a:solidFill>
          <a:ln w="12700">
            <a:solidFill>
              <a:srgbClr val="000000"/>
            </a:solidFill>
            <a:prstDash val="solid"/>
          </a:ln>
        </p:spPr>
      </p:sp>
      <p:sp>
        <p:nvSpPr>
          <p:cNvPr id="17" name="Text 15"/>
          <p:cNvSpPr txBox="1"/>
          <p:nvPr/>
        </p:nvSpPr>
        <p:spPr>
          <a:xfrm>
            <a:off x="731520" y="5394960"/>
            <a:ext cx="10698480" cy="731520"/>
          </a:xfrm>
          <a:prstGeom prst="rect">
            <a:avLst/>
          </a:prstGeom>
          <a:noFill/>
          <a:ln/>
        </p:spPr>
        <p:txBody>
          <a:bodyPr wrap="square" lIns="0" tIns="0" rIns="0" bIns="0" rtlCol="0" anchor="ctr"/>
          <a:lstStyle/>
          <a:p>
            <a:pPr algn="ctr" indent="0" marL="0">
              <a:buNone/>
            </a:pPr>
            <a:r>
              <a:rPr lang="en-US" sz="1500" dirty="0">
                <a:solidFill>
                  <a:srgbClr val="FFFFFF"/>
                </a:solidFill>
                <a:latin typeface="Times New Roman" pitchFamily="34" charset="0"/>
                <a:ea typeface="Times New Roman" pitchFamily="34" charset="-122"/>
                <a:cs typeface="Times New Roman" pitchFamily="34" charset="-120"/>
              </a:rPr>
              <a:t>So far: distance hurts and some resources offset it, but mostly in global or Asian samples, and never with industry knowledge as the remedy.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57200"/>
            <a:ext cx="11247120" cy="594360"/>
          </a:xfrm>
          <a:prstGeom prst="rect">
            <a:avLst/>
          </a:prstGeom>
          <a:noFill/>
          <a:ln/>
        </p:spPr>
        <p:txBody>
          <a:bodyPr wrap="square" lIns="0" tIns="0" rIns="0" bIns="0" rtlCol="0" anchor="ctr"/>
          <a:lstStyle/>
          <a:p>
            <a:pPr indent="0" marL="0">
              <a:buNone/>
            </a:pPr>
            <a:r>
              <a:rPr lang="en-US" sz="2400" b="1" dirty="0">
                <a:solidFill>
                  <a:srgbClr val="000000"/>
                </a:solidFill>
                <a:latin typeface="Times New Roman" pitchFamily="34" charset="0"/>
                <a:ea typeface="Times New Roman" pitchFamily="34" charset="-122"/>
                <a:cs typeface="Times New Roman" pitchFamily="34" charset="-120"/>
              </a:rPr>
              <a:t>What we do not know yet: four gaps</a:t>
            </a:r>
            <a:endParaRPr lang="en-US" sz="2400" dirty="0"/>
          </a:p>
        </p:txBody>
      </p:sp>
      <p:sp>
        <p:nvSpPr>
          <p:cNvPr id="3" name="Text 1"/>
          <p:cNvSpPr txBox="1"/>
          <p:nvPr/>
        </p:nvSpPr>
        <p:spPr>
          <a:xfrm>
            <a:off x="11247120" y="6492240"/>
            <a:ext cx="685800" cy="228600"/>
          </a:xfrm>
          <a:prstGeom prst="rect">
            <a:avLst/>
          </a:prstGeom>
          <a:noFill/>
          <a:ln/>
        </p:spPr>
        <p:txBody>
          <a:bodyPr wrap="square" lIns="0" tIns="0" rIns="0" bIns="0" rtlCol="0" anchor="ctr"/>
          <a:lstStyle/>
          <a:p>
            <a:pPr algn="r" indent="0" marL="0">
              <a:buNone/>
            </a:pPr>
            <a:r>
              <a:rPr lang="en-US" sz="900" dirty="0">
                <a:solidFill>
                  <a:srgbClr val="5A5F73"/>
                </a:solidFill>
                <a:latin typeface="Times New Roman" pitchFamily="34" charset="0"/>
                <a:ea typeface="Times New Roman" pitchFamily="34" charset="-122"/>
                <a:cs typeface="Times New Roman" pitchFamily="34" charset="-120"/>
              </a:rPr>
              <a:t>4 / 11</a:t>
            </a:r>
            <a:endParaRPr lang="en-US" sz="900" dirty="0"/>
          </a:p>
        </p:txBody>
      </p:sp>
      <p:sp>
        <p:nvSpPr>
          <p:cNvPr id="4" name="Shape 2"/>
          <p:cNvSpPr/>
          <p:nvPr/>
        </p:nvSpPr>
        <p:spPr>
          <a:xfrm>
            <a:off x="457200" y="1325880"/>
            <a:ext cx="5577840" cy="1783080"/>
          </a:xfrm>
          <a:prstGeom prst="rect">
            <a:avLst/>
          </a:prstGeom>
          <a:solidFill>
            <a:srgbClr val="E7E6E6"/>
          </a:solidFill>
          <a:ln w="12700">
            <a:solidFill>
              <a:srgbClr val="E7E6E6"/>
            </a:solidFill>
            <a:prstDash val="solid"/>
          </a:ln>
        </p:spPr>
      </p:sp>
      <p:sp>
        <p:nvSpPr>
          <p:cNvPr id="5" name="Shape 3"/>
          <p:cNvSpPr/>
          <p:nvPr/>
        </p:nvSpPr>
        <p:spPr>
          <a:xfrm>
            <a:off x="685800" y="1554480"/>
            <a:ext cx="411480" cy="411480"/>
          </a:xfrm>
          <a:prstGeom prst="ellipse">
            <a:avLst/>
          </a:prstGeom>
          <a:solidFill>
            <a:srgbClr val="E7E6E6"/>
          </a:solidFill>
          <a:ln w="12700">
            <a:solidFill>
              <a:srgbClr val="E7E6E6"/>
            </a:solidFill>
            <a:prstDash val="solid"/>
          </a:ln>
        </p:spPr>
      </p:sp>
      <p:sp>
        <p:nvSpPr>
          <p:cNvPr id="6" name="Text 4"/>
          <p:cNvSpPr txBox="1"/>
          <p:nvPr/>
        </p:nvSpPr>
        <p:spPr>
          <a:xfrm>
            <a:off x="685800" y="1554480"/>
            <a:ext cx="411480" cy="411480"/>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1</a:t>
            </a:r>
            <a:endParaRPr lang="en-US" sz="1400" dirty="0"/>
          </a:p>
        </p:txBody>
      </p:sp>
      <p:sp>
        <p:nvSpPr>
          <p:cNvPr id="7" name="Text 5"/>
          <p:cNvSpPr txBox="1"/>
          <p:nvPr/>
        </p:nvSpPr>
        <p:spPr>
          <a:xfrm>
            <a:off x="1280160" y="1554480"/>
            <a:ext cx="4526280" cy="411480"/>
          </a:xfrm>
          <a:prstGeom prst="rect">
            <a:avLst/>
          </a:prstGeom>
          <a:noFill/>
          <a:ln/>
        </p:spPr>
        <p:txBody>
          <a:bodyPr wrap="square" lIns="0" tIns="0" rIns="0" bIns="0" rtlCol="0" anchor="ctr"/>
          <a:lstStyle/>
          <a:p>
            <a:pPr indent="0" marL="0">
              <a:buNone/>
            </a:pPr>
            <a:r>
              <a:rPr lang="en-US" sz="1700" b="1" dirty="0">
                <a:solidFill>
                  <a:srgbClr val="000000"/>
                </a:solidFill>
                <a:latin typeface="Times New Roman" pitchFamily="34" charset="0"/>
                <a:ea typeface="Times New Roman" pitchFamily="34" charset="-122"/>
                <a:cs typeface="Times New Roman" pitchFamily="34" charset="-120"/>
              </a:rPr>
              <a:t>Europe is treated as one market</a:t>
            </a:r>
            <a:endParaRPr lang="en-US" sz="1700" dirty="0"/>
          </a:p>
        </p:txBody>
      </p:sp>
      <p:sp>
        <p:nvSpPr>
          <p:cNvPr id="8" name="Text 6"/>
          <p:cNvSpPr txBox="1"/>
          <p:nvPr/>
        </p:nvSpPr>
        <p:spPr>
          <a:xfrm>
            <a:off x="1280160" y="2039112"/>
            <a:ext cx="4526280" cy="960120"/>
          </a:xfrm>
          <a:prstGeom prst="rect">
            <a:avLst/>
          </a:prstGeom>
          <a:noFill/>
          <a:ln/>
        </p:spPr>
        <p:txBody>
          <a:bodyPr wrap="square" lIns="0" tIns="0" rIns="0" bIns="0" rtlCol="0" anchor="t"/>
          <a:lstStyle/>
          <a:p>
            <a:pPr indent="0" marL="0">
              <a:buNone/>
            </a:pPr>
            <a:r>
              <a:rPr lang="en-US" sz="1300" dirty="0">
                <a:solidFill>
                  <a:srgbClr val="1B1B2F"/>
                </a:solidFill>
                <a:latin typeface="Times New Roman" pitchFamily="34" charset="0"/>
                <a:ea typeface="Times New Roman" pitchFamily="34" charset="-122"/>
                <a:cs typeface="Times New Roman" pitchFamily="34" charset="-120"/>
              </a:rPr>
              <a:t>Intra-European studies look at flows (Moore et al., 2015; Bosio et al., 2025) or treat the EU as homogeneous, and call for national differences to be studied (Bosio et al., 2025; Taglialatela &amp; Barontini, 2025).</a:t>
            </a:r>
            <a:endParaRPr lang="en-US" sz="1300" dirty="0"/>
          </a:p>
        </p:txBody>
      </p:sp>
      <p:sp>
        <p:nvSpPr>
          <p:cNvPr id="9" name="Shape 7"/>
          <p:cNvSpPr/>
          <p:nvPr/>
        </p:nvSpPr>
        <p:spPr>
          <a:xfrm>
            <a:off x="6126480" y="1325880"/>
            <a:ext cx="5577840" cy="1783080"/>
          </a:xfrm>
          <a:prstGeom prst="rect">
            <a:avLst/>
          </a:prstGeom>
          <a:solidFill>
            <a:srgbClr val="E7E6E6"/>
          </a:solidFill>
          <a:ln w="12700">
            <a:solidFill>
              <a:srgbClr val="E7E6E6"/>
            </a:solidFill>
            <a:prstDash val="solid"/>
          </a:ln>
        </p:spPr>
      </p:sp>
      <p:sp>
        <p:nvSpPr>
          <p:cNvPr id="10" name="Shape 8"/>
          <p:cNvSpPr/>
          <p:nvPr/>
        </p:nvSpPr>
        <p:spPr>
          <a:xfrm>
            <a:off x="6355080" y="1554480"/>
            <a:ext cx="411480" cy="411480"/>
          </a:xfrm>
          <a:prstGeom prst="ellipse">
            <a:avLst/>
          </a:prstGeom>
          <a:solidFill>
            <a:srgbClr val="E7E6E6"/>
          </a:solidFill>
          <a:ln w="12700">
            <a:solidFill>
              <a:srgbClr val="E7E6E6"/>
            </a:solidFill>
            <a:prstDash val="solid"/>
          </a:ln>
        </p:spPr>
      </p:sp>
      <p:sp>
        <p:nvSpPr>
          <p:cNvPr id="11" name="Text 9"/>
          <p:cNvSpPr txBox="1"/>
          <p:nvPr/>
        </p:nvSpPr>
        <p:spPr>
          <a:xfrm>
            <a:off x="6355080" y="1554480"/>
            <a:ext cx="411480" cy="411480"/>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2</a:t>
            </a:r>
            <a:endParaRPr lang="en-US" sz="1400" dirty="0"/>
          </a:p>
        </p:txBody>
      </p:sp>
      <p:sp>
        <p:nvSpPr>
          <p:cNvPr id="12" name="Text 10"/>
          <p:cNvSpPr txBox="1"/>
          <p:nvPr/>
        </p:nvSpPr>
        <p:spPr>
          <a:xfrm>
            <a:off x="6949440" y="1554480"/>
            <a:ext cx="4526280" cy="411480"/>
          </a:xfrm>
          <a:prstGeom prst="rect">
            <a:avLst/>
          </a:prstGeom>
          <a:noFill/>
          <a:ln/>
        </p:spPr>
        <p:txBody>
          <a:bodyPr wrap="square" lIns="0" tIns="0" rIns="0" bIns="0" rtlCol="0" anchor="ctr"/>
          <a:lstStyle/>
          <a:p>
            <a:pPr indent="0" marL="0">
              <a:buNone/>
            </a:pPr>
            <a:r>
              <a:rPr lang="en-US" sz="1700" b="1" dirty="0">
                <a:solidFill>
                  <a:srgbClr val="000000"/>
                </a:solidFill>
                <a:latin typeface="Times New Roman" pitchFamily="34" charset="0"/>
                <a:ea typeface="Times New Roman" pitchFamily="34" charset="-122"/>
                <a:cs typeface="Times New Roman" pitchFamily="34" charset="-120"/>
              </a:rPr>
              <a:t>No distance-performance test inside Europe</a:t>
            </a:r>
            <a:endParaRPr lang="en-US" sz="1700" dirty="0"/>
          </a:p>
        </p:txBody>
      </p:sp>
      <p:sp>
        <p:nvSpPr>
          <p:cNvPr id="13" name="Text 11"/>
          <p:cNvSpPr txBox="1"/>
          <p:nvPr/>
        </p:nvSpPr>
        <p:spPr>
          <a:xfrm>
            <a:off x="6949440" y="2039112"/>
            <a:ext cx="4526280" cy="960120"/>
          </a:xfrm>
          <a:prstGeom prst="rect">
            <a:avLst/>
          </a:prstGeom>
          <a:noFill/>
          <a:ln/>
        </p:spPr>
        <p:txBody>
          <a:bodyPr wrap="square" lIns="0" tIns="0" rIns="0" bIns="0" rtlCol="0" anchor="t"/>
          <a:lstStyle/>
          <a:p>
            <a:pPr indent="0" marL="0">
              <a:buNone/>
            </a:pPr>
            <a:r>
              <a:rPr lang="en-US" sz="1300" dirty="0">
                <a:solidFill>
                  <a:srgbClr val="1B1B2F"/>
                </a:solidFill>
                <a:latin typeface="Times New Roman" pitchFamily="34" charset="0"/>
                <a:ea typeface="Times New Roman" pitchFamily="34" charset="-122"/>
                <a:cs typeface="Times New Roman" pitchFamily="34" charset="-120"/>
              </a:rPr>
              <a:t>Whether institutional, cultural and geographic distance still reduce exit success between European countries has not been tested.</a:t>
            </a:r>
            <a:endParaRPr lang="en-US" sz="1300" dirty="0"/>
          </a:p>
        </p:txBody>
      </p:sp>
      <p:sp>
        <p:nvSpPr>
          <p:cNvPr id="14" name="Shape 12"/>
          <p:cNvSpPr/>
          <p:nvPr/>
        </p:nvSpPr>
        <p:spPr>
          <a:xfrm>
            <a:off x="457200" y="3291840"/>
            <a:ext cx="5577840" cy="1783080"/>
          </a:xfrm>
          <a:prstGeom prst="rect">
            <a:avLst/>
          </a:prstGeom>
          <a:solidFill>
            <a:srgbClr val="E7E6E6"/>
          </a:solidFill>
          <a:ln w="12700">
            <a:solidFill>
              <a:srgbClr val="E7E6E6"/>
            </a:solidFill>
            <a:prstDash val="solid"/>
          </a:ln>
        </p:spPr>
      </p:sp>
      <p:sp>
        <p:nvSpPr>
          <p:cNvPr id="15" name="Shape 13"/>
          <p:cNvSpPr/>
          <p:nvPr/>
        </p:nvSpPr>
        <p:spPr>
          <a:xfrm>
            <a:off x="685800" y="3520440"/>
            <a:ext cx="411480" cy="411480"/>
          </a:xfrm>
          <a:prstGeom prst="ellipse">
            <a:avLst/>
          </a:prstGeom>
          <a:solidFill>
            <a:srgbClr val="E7E6E6"/>
          </a:solidFill>
          <a:ln w="12700">
            <a:solidFill>
              <a:srgbClr val="E7E6E6"/>
            </a:solidFill>
            <a:prstDash val="solid"/>
          </a:ln>
        </p:spPr>
      </p:sp>
      <p:sp>
        <p:nvSpPr>
          <p:cNvPr id="16" name="Text 14"/>
          <p:cNvSpPr txBox="1"/>
          <p:nvPr/>
        </p:nvSpPr>
        <p:spPr>
          <a:xfrm>
            <a:off x="685800" y="3520440"/>
            <a:ext cx="411480" cy="411480"/>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3</a:t>
            </a:r>
            <a:endParaRPr lang="en-US" sz="1400" dirty="0"/>
          </a:p>
        </p:txBody>
      </p:sp>
      <p:sp>
        <p:nvSpPr>
          <p:cNvPr id="17" name="Text 15"/>
          <p:cNvSpPr txBox="1"/>
          <p:nvPr/>
        </p:nvSpPr>
        <p:spPr>
          <a:xfrm>
            <a:off x="1280160" y="3520440"/>
            <a:ext cx="4526280" cy="411480"/>
          </a:xfrm>
          <a:prstGeom prst="rect">
            <a:avLst/>
          </a:prstGeom>
          <a:noFill/>
          <a:ln/>
        </p:spPr>
        <p:txBody>
          <a:bodyPr wrap="square" lIns="0" tIns="0" rIns="0" bIns="0" rtlCol="0" anchor="ctr"/>
          <a:lstStyle/>
          <a:p>
            <a:pPr indent="0" marL="0">
              <a:buNone/>
            </a:pPr>
            <a:r>
              <a:rPr lang="en-US" sz="1700" b="1" dirty="0">
                <a:solidFill>
                  <a:srgbClr val="000000"/>
                </a:solidFill>
                <a:latin typeface="Times New Roman" pitchFamily="34" charset="0"/>
                <a:ea typeface="Times New Roman" pitchFamily="34" charset="-122"/>
                <a:cs typeface="Times New Roman" pitchFamily="34" charset="-120"/>
              </a:rPr>
              <a:t>Specialization is only a control</a:t>
            </a:r>
            <a:endParaRPr lang="en-US" sz="1700" dirty="0"/>
          </a:p>
        </p:txBody>
      </p:sp>
      <p:sp>
        <p:nvSpPr>
          <p:cNvPr id="18" name="Text 16"/>
          <p:cNvSpPr txBox="1"/>
          <p:nvPr/>
        </p:nvSpPr>
        <p:spPr>
          <a:xfrm>
            <a:off x="1280160" y="4005072"/>
            <a:ext cx="4526280" cy="960120"/>
          </a:xfrm>
          <a:prstGeom prst="rect">
            <a:avLst/>
          </a:prstGeom>
          <a:noFill/>
          <a:ln/>
        </p:spPr>
        <p:txBody>
          <a:bodyPr wrap="square" lIns="0" tIns="0" rIns="0" bIns="0" rtlCol="0" anchor="t"/>
          <a:lstStyle/>
          <a:p>
            <a:pPr indent="0" marL="0">
              <a:buNone/>
            </a:pPr>
            <a:r>
              <a:rPr lang="en-US" sz="1300" dirty="0">
                <a:solidFill>
                  <a:srgbClr val="1B1B2F"/>
                </a:solidFill>
                <a:latin typeface="Times New Roman" pitchFamily="34" charset="0"/>
                <a:ea typeface="Times New Roman" pitchFamily="34" charset="-122"/>
                <a:cs typeface="Times New Roman" pitchFamily="34" charset="-120"/>
              </a:rPr>
              <a:t>Specialization is tested as a direct driver (Gompers et al., 2009) or a control (Li et al., 2014), never as something that changes the effect of distance.</a:t>
            </a:r>
            <a:endParaRPr lang="en-US" sz="1300" dirty="0"/>
          </a:p>
        </p:txBody>
      </p:sp>
      <p:sp>
        <p:nvSpPr>
          <p:cNvPr id="19" name="Shape 17"/>
          <p:cNvSpPr/>
          <p:nvPr/>
        </p:nvSpPr>
        <p:spPr>
          <a:xfrm>
            <a:off x="6126480" y="3291840"/>
            <a:ext cx="5577840" cy="1783080"/>
          </a:xfrm>
          <a:prstGeom prst="rect">
            <a:avLst/>
          </a:prstGeom>
          <a:solidFill>
            <a:srgbClr val="E7E6E6"/>
          </a:solidFill>
          <a:ln w="12700">
            <a:solidFill>
              <a:srgbClr val="E7E6E6"/>
            </a:solidFill>
            <a:prstDash val="solid"/>
          </a:ln>
        </p:spPr>
      </p:sp>
      <p:sp>
        <p:nvSpPr>
          <p:cNvPr id="20" name="Shape 18"/>
          <p:cNvSpPr/>
          <p:nvPr/>
        </p:nvSpPr>
        <p:spPr>
          <a:xfrm>
            <a:off x="6355080" y="3520440"/>
            <a:ext cx="411480" cy="411480"/>
          </a:xfrm>
          <a:prstGeom prst="ellipse">
            <a:avLst/>
          </a:prstGeom>
          <a:solidFill>
            <a:srgbClr val="E7E6E6"/>
          </a:solidFill>
          <a:ln w="12700">
            <a:solidFill>
              <a:srgbClr val="E7E6E6"/>
            </a:solidFill>
            <a:prstDash val="solid"/>
          </a:ln>
        </p:spPr>
      </p:sp>
      <p:sp>
        <p:nvSpPr>
          <p:cNvPr id="21" name="Text 19"/>
          <p:cNvSpPr txBox="1"/>
          <p:nvPr/>
        </p:nvSpPr>
        <p:spPr>
          <a:xfrm>
            <a:off x="6355080" y="3520440"/>
            <a:ext cx="411480" cy="411480"/>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4</a:t>
            </a:r>
            <a:endParaRPr lang="en-US" sz="1400" dirty="0"/>
          </a:p>
        </p:txBody>
      </p:sp>
      <p:sp>
        <p:nvSpPr>
          <p:cNvPr id="22" name="Text 20"/>
          <p:cNvSpPr txBox="1"/>
          <p:nvPr/>
        </p:nvSpPr>
        <p:spPr>
          <a:xfrm>
            <a:off x="6949440" y="3520440"/>
            <a:ext cx="4526280" cy="411480"/>
          </a:xfrm>
          <a:prstGeom prst="rect">
            <a:avLst/>
          </a:prstGeom>
          <a:noFill/>
          <a:ln/>
        </p:spPr>
        <p:txBody>
          <a:bodyPr wrap="square" lIns="0" tIns="0" rIns="0" bIns="0" rtlCol="0" anchor="ctr"/>
          <a:lstStyle/>
          <a:p>
            <a:pPr indent="0" marL="0">
              <a:buNone/>
            </a:pPr>
            <a:r>
              <a:rPr lang="en-US" sz="1700" b="1" dirty="0">
                <a:solidFill>
                  <a:srgbClr val="000000"/>
                </a:solidFill>
                <a:latin typeface="Times New Roman" pitchFamily="34" charset="0"/>
                <a:ea typeface="Times New Roman" pitchFamily="34" charset="-122"/>
                <a:cs typeface="Times New Roman" pitchFamily="34" charset="-120"/>
              </a:rPr>
              <a:t>Remedies are not matched to distances</a:t>
            </a:r>
            <a:endParaRPr lang="en-US" sz="1700" dirty="0"/>
          </a:p>
        </p:txBody>
      </p:sp>
      <p:sp>
        <p:nvSpPr>
          <p:cNvPr id="23" name="Text 21"/>
          <p:cNvSpPr txBox="1"/>
          <p:nvPr/>
        </p:nvSpPr>
        <p:spPr>
          <a:xfrm>
            <a:off x="6949440" y="4005072"/>
            <a:ext cx="4526280" cy="960120"/>
          </a:xfrm>
          <a:prstGeom prst="rect">
            <a:avLst/>
          </a:prstGeom>
          <a:noFill/>
          <a:ln/>
        </p:spPr>
        <p:txBody>
          <a:bodyPr wrap="square" lIns="0" tIns="0" rIns="0" bIns="0" rtlCol="0" anchor="t"/>
          <a:lstStyle/>
          <a:p>
            <a:pPr indent="0" marL="0">
              <a:buNone/>
            </a:pPr>
            <a:r>
              <a:rPr lang="en-US" sz="1300" dirty="0">
                <a:solidFill>
                  <a:srgbClr val="1B1B2F"/>
                </a:solidFill>
                <a:latin typeface="Times New Roman" pitchFamily="34" charset="0"/>
                <a:ea typeface="Times New Roman" pitchFamily="34" charset="-122"/>
                <a:cs typeface="Times New Roman" pitchFamily="34" charset="-120"/>
              </a:rPr>
              <a:t>Local syndication is tested on the decision to invest (Tykvová &amp; Schertler, 2014), not on performance; build and borrow are never compared.</a:t>
            </a:r>
            <a:endParaRPr lang="en-US" sz="1300" dirty="0"/>
          </a:p>
        </p:txBody>
      </p:sp>
      <p:sp>
        <p:nvSpPr>
          <p:cNvPr id="24" name="Shape 22"/>
          <p:cNvSpPr/>
          <p:nvPr/>
        </p:nvSpPr>
        <p:spPr>
          <a:xfrm>
            <a:off x="457200" y="5303520"/>
            <a:ext cx="11247120" cy="822960"/>
          </a:xfrm>
          <a:prstGeom prst="rect">
            <a:avLst/>
          </a:prstGeom>
          <a:solidFill>
            <a:srgbClr val="000000"/>
          </a:solidFill>
          <a:ln w="12700">
            <a:solidFill>
              <a:srgbClr val="000000"/>
            </a:solidFill>
            <a:prstDash val="solid"/>
          </a:ln>
        </p:spPr>
      </p:sp>
      <p:sp>
        <p:nvSpPr>
          <p:cNvPr id="25" name="Text 23"/>
          <p:cNvSpPr txBox="1"/>
          <p:nvPr/>
        </p:nvSpPr>
        <p:spPr>
          <a:xfrm>
            <a:off x="731520" y="5303520"/>
            <a:ext cx="10698480" cy="822960"/>
          </a:xfrm>
          <a:prstGeom prst="rect">
            <a:avLst/>
          </a:prstGeom>
          <a:noFill/>
          <a:ln/>
        </p:spPr>
        <p:txBody>
          <a:bodyPr wrap="square" lIns="0" tIns="0" rIns="0" bIns="0" rtlCol="0" anchor="ctr"/>
          <a:lstStyle/>
          <a:p>
            <a:pPr algn="ctr" indent="0" marL="0">
              <a:buNone/>
            </a:pPr>
            <a:r>
              <a:rPr lang="en-US" sz="1500" dirty="0">
                <a:solidFill>
                  <a:srgbClr val="FFFFFF"/>
                </a:solidFill>
                <a:latin typeface="Times New Roman" pitchFamily="34" charset="0"/>
                <a:ea typeface="Times New Roman" pitchFamily="34" charset="-122"/>
                <a:cs typeface="Times New Roman" pitchFamily="34" charset="-120"/>
              </a:rPr>
              <a:t>Puzzle: in Europe, startups backed by investors from several countries perform worse (Liu et al., 2026), but we do not know which distance drives this or what offsets it.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57200"/>
            <a:ext cx="11247120" cy="594360"/>
          </a:xfrm>
          <a:prstGeom prst="rect">
            <a:avLst/>
          </a:prstGeom>
          <a:noFill/>
          <a:ln/>
        </p:spPr>
        <p:txBody>
          <a:bodyPr wrap="square" lIns="0" tIns="0" rIns="0" bIns="0" rtlCol="0" anchor="ctr"/>
          <a:lstStyle/>
          <a:p>
            <a:pPr indent="0" marL="0">
              <a:buNone/>
            </a:pPr>
            <a:r>
              <a:rPr lang="en-US" sz="2400" b="1" dirty="0">
                <a:solidFill>
                  <a:srgbClr val="000000"/>
                </a:solidFill>
                <a:latin typeface="Times New Roman" pitchFamily="34" charset="0"/>
                <a:ea typeface="Times New Roman" pitchFamily="34" charset="-122"/>
                <a:cs typeface="Times New Roman" pitchFamily="34" charset="-120"/>
              </a:rPr>
              <a:t>Why fill this gap: contribution</a:t>
            </a:r>
            <a:endParaRPr lang="en-US" sz="2400" dirty="0"/>
          </a:p>
        </p:txBody>
      </p:sp>
      <p:sp>
        <p:nvSpPr>
          <p:cNvPr id="3" name="Text 1"/>
          <p:cNvSpPr txBox="1"/>
          <p:nvPr/>
        </p:nvSpPr>
        <p:spPr>
          <a:xfrm>
            <a:off x="11247120" y="6492240"/>
            <a:ext cx="685800" cy="228600"/>
          </a:xfrm>
          <a:prstGeom prst="rect">
            <a:avLst/>
          </a:prstGeom>
          <a:noFill/>
          <a:ln/>
        </p:spPr>
        <p:txBody>
          <a:bodyPr wrap="square" lIns="0" tIns="0" rIns="0" bIns="0" rtlCol="0" anchor="ctr"/>
          <a:lstStyle/>
          <a:p>
            <a:pPr algn="r" indent="0" marL="0">
              <a:buNone/>
            </a:pPr>
            <a:r>
              <a:rPr lang="en-US" sz="900" dirty="0">
                <a:solidFill>
                  <a:srgbClr val="5A5F73"/>
                </a:solidFill>
                <a:latin typeface="Times New Roman" pitchFamily="34" charset="0"/>
                <a:ea typeface="Times New Roman" pitchFamily="34" charset="-122"/>
                <a:cs typeface="Times New Roman" pitchFamily="34" charset="-120"/>
              </a:rPr>
              <a:t>5 / 11</a:t>
            </a:r>
            <a:endParaRPr lang="en-US" sz="900" dirty="0"/>
          </a:p>
        </p:txBody>
      </p:sp>
      <p:sp>
        <p:nvSpPr>
          <p:cNvPr id="4" name="Shape 2"/>
          <p:cNvSpPr/>
          <p:nvPr/>
        </p:nvSpPr>
        <p:spPr>
          <a:xfrm>
            <a:off x="457200" y="1280160"/>
            <a:ext cx="5577840" cy="548640"/>
          </a:xfrm>
          <a:prstGeom prst="rect">
            <a:avLst/>
          </a:prstGeom>
          <a:solidFill>
            <a:srgbClr val="000000"/>
          </a:solidFill>
          <a:ln w="12700">
            <a:solidFill>
              <a:srgbClr val="000000"/>
            </a:solidFill>
            <a:prstDash val="solid"/>
          </a:ln>
        </p:spPr>
      </p:sp>
      <p:sp>
        <p:nvSpPr>
          <p:cNvPr id="5" name="Text 3"/>
          <p:cNvSpPr txBox="1"/>
          <p:nvPr/>
        </p:nvSpPr>
        <p:spPr>
          <a:xfrm>
            <a:off x="457200" y="1280160"/>
            <a:ext cx="55778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Times New Roman" pitchFamily="34" charset="0"/>
                <a:ea typeface="Times New Roman" pitchFamily="34" charset="-122"/>
                <a:cs typeface="Times New Roman" pitchFamily="34" charset="-120"/>
              </a:rPr>
              <a:t>Theoretical contribution</a:t>
            </a:r>
            <a:endParaRPr lang="en-US" sz="1700" dirty="0"/>
          </a:p>
        </p:txBody>
      </p:sp>
      <p:sp>
        <p:nvSpPr>
          <p:cNvPr id="6" name="Shape 4"/>
          <p:cNvSpPr/>
          <p:nvPr/>
        </p:nvSpPr>
        <p:spPr>
          <a:xfrm>
            <a:off x="6126480" y="1280160"/>
            <a:ext cx="5577840" cy="548640"/>
          </a:xfrm>
          <a:prstGeom prst="rect">
            <a:avLst/>
          </a:prstGeom>
          <a:solidFill>
            <a:srgbClr val="000000"/>
          </a:solidFill>
          <a:ln w="12700">
            <a:solidFill>
              <a:srgbClr val="000000"/>
            </a:solidFill>
            <a:prstDash val="solid"/>
          </a:ln>
        </p:spPr>
      </p:sp>
      <p:sp>
        <p:nvSpPr>
          <p:cNvPr id="7" name="Text 5"/>
          <p:cNvSpPr txBox="1"/>
          <p:nvPr/>
        </p:nvSpPr>
        <p:spPr>
          <a:xfrm>
            <a:off x="6126480" y="1280160"/>
            <a:ext cx="55778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Times New Roman" pitchFamily="34" charset="0"/>
                <a:ea typeface="Times New Roman" pitchFamily="34" charset="-122"/>
                <a:cs typeface="Times New Roman" pitchFamily="34" charset="-120"/>
              </a:rPr>
              <a:t>Practical contribution</a:t>
            </a:r>
            <a:endParaRPr lang="en-US" sz="1700" dirty="0"/>
          </a:p>
        </p:txBody>
      </p:sp>
      <p:sp>
        <p:nvSpPr>
          <p:cNvPr id="8" name="Shape 6"/>
          <p:cNvSpPr/>
          <p:nvPr/>
        </p:nvSpPr>
        <p:spPr>
          <a:xfrm>
            <a:off x="548640" y="2148840"/>
            <a:ext cx="411480" cy="411480"/>
          </a:xfrm>
          <a:prstGeom prst="ellipse">
            <a:avLst/>
          </a:prstGeom>
          <a:solidFill>
            <a:srgbClr val="E7E6E6"/>
          </a:solidFill>
          <a:ln w="12700">
            <a:solidFill>
              <a:srgbClr val="E7E6E6"/>
            </a:solidFill>
            <a:prstDash val="solid"/>
          </a:ln>
        </p:spPr>
      </p:sp>
      <p:sp>
        <p:nvSpPr>
          <p:cNvPr id="9" name="Text 7"/>
          <p:cNvSpPr txBox="1"/>
          <p:nvPr/>
        </p:nvSpPr>
        <p:spPr>
          <a:xfrm>
            <a:off x="548640" y="2148840"/>
            <a:ext cx="411480" cy="411480"/>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1</a:t>
            </a:r>
            <a:endParaRPr lang="en-US" sz="1400" dirty="0"/>
          </a:p>
        </p:txBody>
      </p:sp>
      <p:sp>
        <p:nvSpPr>
          <p:cNvPr id="10" name="Shape 8"/>
          <p:cNvSpPr/>
          <p:nvPr/>
        </p:nvSpPr>
        <p:spPr>
          <a:xfrm>
            <a:off x="1097280" y="2057400"/>
            <a:ext cx="4937760" cy="1143000"/>
          </a:xfrm>
          <a:prstGeom prst="rect">
            <a:avLst/>
          </a:prstGeom>
          <a:solidFill>
            <a:srgbClr val="E7E6E6"/>
          </a:solidFill>
          <a:ln w="12700">
            <a:solidFill>
              <a:srgbClr val="E7E6E6"/>
            </a:solidFill>
            <a:prstDash val="solid"/>
          </a:ln>
        </p:spPr>
      </p:sp>
      <p:sp>
        <p:nvSpPr>
          <p:cNvPr id="11" name="Text 9"/>
          <p:cNvSpPr txBox="1"/>
          <p:nvPr/>
        </p:nvSpPr>
        <p:spPr>
          <a:xfrm>
            <a:off x="1280160" y="2057400"/>
            <a:ext cx="4572000" cy="1143000"/>
          </a:xfrm>
          <a:prstGeom prst="rect">
            <a:avLst/>
          </a:prstGeom>
          <a:noFill/>
          <a:ln/>
        </p:spPr>
        <p:txBody>
          <a:bodyPr wrap="square" lIns="0" tIns="0" rIns="0" bIns="0" rtlCol="0" anchor="ctr"/>
          <a:lstStyle/>
          <a:p>
            <a:pPr indent="0" marL="0">
              <a:buNone/>
            </a:pPr>
            <a:r>
              <a:rPr lang="en-US" sz="1400" dirty="0">
                <a:solidFill>
                  <a:srgbClr val="1B1B2F"/>
                </a:solidFill>
                <a:latin typeface="Times New Roman" pitchFamily="34" charset="0"/>
                <a:ea typeface="Times New Roman" pitchFamily="34" charset="-122"/>
                <a:cs typeface="Times New Roman" pitchFamily="34" charset="-120"/>
              </a:rPr>
              <a:t>Liability of foreignness inside an integrated region: which types of distance survive integration</a:t>
            </a:r>
            <a:endParaRPr lang="en-US" sz="1400" dirty="0"/>
          </a:p>
        </p:txBody>
      </p:sp>
      <p:sp>
        <p:nvSpPr>
          <p:cNvPr id="12" name="Shape 10"/>
          <p:cNvSpPr/>
          <p:nvPr/>
        </p:nvSpPr>
        <p:spPr>
          <a:xfrm>
            <a:off x="548640" y="3474720"/>
            <a:ext cx="411480" cy="411480"/>
          </a:xfrm>
          <a:prstGeom prst="ellipse">
            <a:avLst/>
          </a:prstGeom>
          <a:solidFill>
            <a:srgbClr val="E7E6E6"/>
          </a:solidFill>
          <a:ln w="12700">
            <a:solidFill>
              <a:srgbClr val="E7E6E6"/>
            </a:solidFill>
            <a:prstDash val="solid"/>
          </a:ln>
        </p:spPr>
      </p:sp>
      <p:sp>
        <p:nvSpPr>
          <p:cNvPr id="13" name="Text 11"/>
          <p:cNvSpPr txBox="1"/>
          <p:nvPr/>
        </p:nvSpPr>
        <p:spPr>
          <a:xfrm>
            <a:off x="548640" y="3474720"/>
            <a:ext cx="411480" cy="411480"/>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2</a:t>
            </a:r>
            <a:endParaRPr lang="en-US" sz="1400" dirty="0"/>
          </a:p>
        </p:txBody>
      </p:sp>
      <p:sp>
        <p:nvSpPr>
          <p:cNvPr id="14" name="Shape 12"/>
          <p:cNvSpPr/>
          <p:nvPr/>
        </p:nvSpPr>
        <p:spPr>
          <a:xfrm>
            <a:off x="1097280" y="3383280"/>
            <a:ext cx="4937760" cy="1143000"/>
          </a:xfrm>
          <a:prstGeom prst="rect">
            <a:avLst/>
          </a:prstGeom>
          <a:solidFill>
            <a:srgbClr val="E7E6E6"/>
          </a:solidFill>
          <a:ln w="12700">
            <a:solidFill>
              <a:srgbClr val="E7E6E6"/>
            </a:solidFill>
            <a:prstDash val="solid"/>
          </a:ln>
        </p:spPr>
      </p:sp>
      <p:sp>
        <p:nvSpPr>
          <p:cNvPr id="15" name="Text 13"/>
          <p:cNvSpPr txBox="1"/>
          <p:nvPr/>
        </p:nvSpPr>
        <p:spPr>
          <a:xfrm>
            <a:off x="1280160" y="3383280"/>
            <a:ext cx="4572000" cy="1143000"/>
          </a:xfrm>
          <a:prstGeom prst="rect">
            <a:avLst/>
          </a:prstGeom>
          <a:noFill/>
          <a:ln/>
        </p:spPr>
        <p:txBody>
          <a:bodyPr wrap="square" lIns="0" tIns="0" rIns="0" bIns="0" rtlCol="0" anchor="ctr"/>
          <a:lstStyle/>
          <a:p>
            <a:pPr indent="0" marL="0">
              <a:buNone/>
            </a:pPr>
            <a:r>
              <a:rPr lang="en-US" sz="1400" dirty="0">
                <a:solidFill>
                  <a:srgbClr val="1B1B2F"/>
                </a:solidFill>
                <a:latin typeface="Times New Roman" pitchFamily="34" charset="0"/>
                <a:ea typeface="Times New Roman" pitchFamily="34" charset="-122"/>
                <a:cs typeface="Times New Roman" pitchFamily="34" charset="-120"/>
              </a:rPr>
              <a:t>A build vs. borrow framework: codified knowledge can be built, tacit knowledge has to be borrowed, so each remedy fits a specific distance</a:t>
            </a:r>
            <a:endParaRPr lang="en-US" sz="1400" dirty="0"/>
          </a:p>
        </p:txBody>
      </p:sp>
      <p:sp>
        <p:nvSpPr>
          <p:cNvPr id="16" name="Shape 14"/>
          <p:cNvSpPr/>
          <p:nvPr/>
        </p:nvSpPr>
        <p:spPr>
          <a:xfrm>
            <a:off x="548640" y="4800600"/>
            <a:ext cx="411480" cy="411480"/>
          </a:xfrm>
          <a:prstGeom prst="ellipse">
            <a:avLst/>
          </a:prstGeom>
          <a:solidFill>
            <a:srgbClr val="E7E6E6"/>
          </a:solidFill>
          <a:ln w="12700">
            <a:solidFill>
              <a:srgbClr val="E7E6E6"/>
            </a:solidFill>
            <a:prstDash val="solid"/>
          </a:ln>
        </p:spPr>
      </p:sp>
      <p:sp>
        <p:nvSpPr>
          <p:cNvPr id="17" name="Text 15"/>
          <p:cNvSpPr txBox="1"/>
          <p:nvPr/>
        </p:nvSpPr>
        <p:spPr>
          <a:xfrm>
            <a:off x="548640" y="4800600"/>
            <a:ext cx="411480" cy="411480"/>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3</a:t>
            </a:r>
            <a:endParaRPr lang="en-US" sz="1400" dirty="0"/>
          </a:p>
        </p:txBody>
      </p:sp>
      <p:sp>
        <p:nvSpPr>
          <p:cNvPr id="18" name="Shape 16"/>
          <p:cNvSpPr/>
          <p:nvPr/>
        </p:nvSpPr>
        <p:spPr>
          <a:xfrm>
            <a:off x="1097280" y="4709160"/>
            <a:ext cx="4937760" cy="1143000"/>
          </a:xfrm>
          <a:prstGeom prst="rect">
            <a:avLst/>
          </a:prstGeom>
          <a:solidFill>
            <a:srgbClr val="E7E6E6"/>
          </a:solidFill>
          <a:ln w="12700">
            <a:solidFill>
              <a:srgbClr val="E7E6E6"/>
            </a:solidFill>
            <a:prstDash val="solid"/>
          </a:ln>
        </p:spPr>
      </p:sp>
      <p:sp>
        <p:nvSpPr>
          <p:cNvPr id="19" name="Text 17"/>
          <p:cNvSpPr txBox="1"/>
          <p:nvPr/>
        </p:nvSpPr>
        <p:spPr>
          <a:xfrm>
            <a:off x="1280160" y="4709160"/>
            <a:ext cx="4572000" cy="1143000"/>
          </a:xfrm>
          <a:prstGeom prst="rect">
            <a:avLst/>
          </a:prstGeom>
          <a:noFill/>
          <a:ln/>
        </p:spPr>
        <p:txBody>
          <a:bodyPr wrap="square" lIns="0" tIns="0" rIns="0" bIns="0" rtlCol="0" anchor="ctr"/>
          <a:lstStyle/>
          <a:p>
            <a:pPr indent="0" marL="0">
              <a:buNone/>
            </a:pPr>
            <a:r>
              <a:rPr lang="en-US" sz="1400" dirty="0">
                <a:solidFill>
                  <a:srgbClr val="1B1B2F"/>
                </a:solidFill>
                <a:latin typeface="Times New Roman" pitchFamily="34" charset="0"/>
                <a:ea typeface="Times New Roman" pitchFamily="34" charset="-122"/>
                <a:cs typeface="Times New Roman" pitchFamily="34" charset="-120"/>
              </a:rPr>
              <a:t>Extends the model paper (Li et al., 2014) from general experience to industry-specific knowledge, and moves local syndication from the investment decision to performance</a:t>
            </a:r>
            <a:endParaRPr lang="en-US" sz="1400" dirty="0"/>
          </a:p>
        </p:txBody>
      </p:sp>
      <p:sp>
        <p:nvSpPr>
          <p:cNvPr id="20" name="Shape 18"/>
          <p:cNvSpPr/>
          <p:nvPr/>
        </p:nvSpPr>
        <p:spPr>
          <a:xfrm>
            <a:off x="6217920" y="2148840"/>
            <a:ext cx="411480" cy="411480"/>
          </a:xfrm>
          <a:prstGeom prst="ellipse">
            <a:avLst/>
          </a:prstGeom>
          <a:solidFill>
            <a:srgbClr val="E7E6E6"/>
          </a:solidFill>
          <a:ln w="12700">
            <a:solidFill>
              <a:srgbClr val="E7E6E6"/>
            </a:solidFill>
            <a:prstDash val="solid"/>
          </a:ln>
        </p:spPr>
      </p:sp>
      <p:sp>
        <p:nvSpPr>
          <p:cNvPr id="21" name="Text 19"/>
          <p:cNvSpPr txBox="1"/>
          <p:nvPr/>
        </p:nvSpPr>
        <p:spPr>
          <a:xfrm>
            <a:off x="6217920" y="2148840"/>
            <a:ext cx="411480" cy="411480"/>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1</a:t>
            </a:r>
            <a:endParaRPr lang="en-US" sz="1400" dirty="0"/>
          </a:p>
        </p:txBody>
      </p:sp>
      <p:sp>
        <p:nvSpPr>
          <p:cNvPr id="22" name="Shape 20"/>
          <p:cNvSpPr/>
          <p:nvPr/>
        </p:nvSpPr>
        <p:spPr>
          <a:xfrm>
            <a:off x="6766560" y="2057400"/>
            <a:ext cx="4937760" cy="1143000"/>
          </a:xfrm>
          <a:prstGeom prst="rect">
            <a:avLst/>
          </a:prstGeom>
          <a:solidFill>
            <a:srgbClr val="F4F6FB"/>
          </a:solidFill>
          <a:ln w="12700">
            <a:solidFill>
              <a:srgbClr val="F4F6FB"/>
            </a:solidFill>
            <a:prstDash val="solid"/>
          </a:ln>
        </p:spPr>
      </p:sp>
      <p:sp>
        <p:nvSpPr>
          <p:cNvPr id="23" name="Text 21"/>
          <p:cNvSpPr txBox="1"/>
          <p:nvPr/>
        </p:nvSpPr>
        <p:spPr>
          <a:xfrm>
            <a:off x="6949440" y="2057400"/>
            <a:ext cx="4572000" cy="1143000"/>
          </a:xfrm>
          <a:prstGeom prst="rect">
            <a:avLst/>
          </a:prstGeom>
          <a:noFill/>
          <a:ln/>
        </p:spPr>
        <p:txBody>
          <a:bodyPr wrap="square" lIns="0" tIns="0" rIns="0" bIns="0" rtlCol="0" anchor="ctr"/>
          <a:lstStyle/>
          <a:p>
            <a:pPr indent="0" marL="0">
              <a:buNone/>
            </a:pPr>
            <a:r>
              <a:rPr lang="en-US" sz="1400" dirty="0">
                <a:solidFill>
                  <a:srgbClr val="1B1B2F"/>
                </a:solidFill>
                <a:latin typeface="Times New Roman" pitchFamily="34" charset="0"/>
                <a:ea typeface="Times New Roman" pitchFamily="34" charset="-122"/>
                <a:cs typeface="Times New Roman" pitchFamily="34" charset="-120"/>
              </a:rPr>
              <a:t>VCs: evidence on when sector expertise is enough and when a local partner is needed</a:t>
            </a:r>
            <a:endParaRPr lang="en-US" sz="1400" dirty="0"/>
          </a:p>
        </p:txBody>
      </p:sp>
      <p:sp>
        <p:nvSpPr>
          <p:cNvPr id="24" name="Shape 22"/>
          <p:cNvSpPr/>
          <p:nvPr/>
        </p:nvSpPr>
        <p:spPr>
          <a:xfrm>
            <a:off x="6217920" y="3474720"/>
            <a:ext cx="411480" cy="411480"/>
          </a:xfrm>
          <a:prstGeom prst="ellipse">
            <a:avLst/>
          </a:prstGeom>
          <a:solidFill>
            <a:srgbClr val="E7E6E6"/>
          </a:solidFill>
          <a:ln w="12700">
            <a:solidFill>
              <a:srgbClr val="E7E6E6"/>
            </a:solidFill>
            <a:prstDash val="solid"/>
          </a:ln>
        </p:spPr>
      </p:sp>
      <p:sp>
        <p:nvSpPr>
          <p:cNvPr id="25" name="Text 23"/>
          <p:cNvSpPr txBox="1"/>
          <p:nvPr/>
        </p:nvSpPr>
        <p:spPr>
          <a:xfrm>
            <a:off x="6217920" y="3474720"/>
            <a:ext cx="411480" cy="411480"/>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2</a:t>
            </a:r>
            <a:endParaRPr lang="en-US" sz="1400" dirty="0"/>
          </a:p>
        </p:txBody>
      </p:sp>
      <p:sp>
        <p:nvSpPr>
          <p:cNvPr id="26" name="Shape 24"/>
          <p:cNvSpPr/>
          <p:nvPr/>
        </p:nvSpPr>
        <p:spPr>
          <a:xfrm>
            <a:off x="6766560" y="3383280"/>
            <a:ext cx="4937760" cy="1143000"/>
          </a:xfrm>
          <a:prstGeom prst="rect">
            <a:avLst/>
          </a:prstGeom>
          <a:solidFill>
            <a:srgbClr val="F4F6FB"/>
          </a:solidFill>
          <a:ln w="12700">
            <a:solidFill>
              <a:srgbClr val="F4F6FB"/>
            </a:solidFill>
            <a:prstDash val="solid"/>
          </a:ln>
        </p:spPr>
      </p:sp>
      <p:sp>
        <p:nvSpPr>
          <p:cNvPr id="27" name="Text 25"/>
          <p:cNvSpPr txBox="1"/>
          <p:nvPr/>
        </p:nvSpPr>
        <p:spPr>
          <a:xfrm>
            <a:off x="6949440" y="3383280"/>
            <a:ext cx="4572000" cy="1143000"/>
          </a:xfrm>
          <a:prstGeom prst="rect">
            <a:avLst/>
          </a:prstGeom>
          <a:noFill/>
          <a:ln/>
        </p:spPr>
        <p:txBody>
          <a:bodyPr wrap="square" lIns="0" tIns="0" rIns="0" bIns="0" rtlCol="0" anchor="ctr"/>
          <a:lstStyle/>
          <a:p>
            <a:pPr indent="0" marL="0">
              <a:buNone/>
            </a:pPr>
            <a:r>
              <a:rPr lang="en-US" sz="1400" dirty="0">
                <a:solidFill>
                  <a:srgbClr val="1B1B2F"/>
                </a:solidFill>
                <a:latin typeface="Times New Roman" pitchFamily="34" charset="0"/>
                <a:ea typeface="Times New Roman" pitchFamily="34" charset="-122"/>
                <a:cs typeface="Times New Roman" pitchFamily="34" charset="-120"/>
              </a:rPr>
              <a:t>Founders: which foreign investors to bring in and whether to add a local co-investor</a:t>
            </a:r>
            <a:endParaRPr lang="en-US" sz="1400" dirty="0"/>
          </a:p>
        </p:txBody>
      </p:sp>
      <p:sp>
        <p:nvSpPr>
          <p:cNvPr id="28" name="Shape 26"/>
          <p:cNvSpPr/>
          <p:nvPr/>
        </p:nvSpPr>
        <p:spPr>
          <a:xfrm>
            <a:off x="6217920" y="4800600"/>
            <a:ext cx="411480" cy="411480"/>
          </a:xfrm>
          <a:prstGeom prst="ellipse">
            <a:avLst/>
          </a:prstGeom>
          <a:solidFill>
            <a:srgbClr val="E7E6E6"/>
          </a:solidFill>
          <a:ln w="12700">
            <a:solidFill>
              <a:srgbClr val="E7E6E6"/>
            </a:solidFill>
            <a:prstDash val="solid"/>
          </a:ln>
        </p:spPr>
      </p:sp>
      <p:sp>
        <p:nvSpPr>
          <p:cNvPr id="29" name="Text 27"/>
          <p:cNvSpPr txBox="1"/>
          <p:nvPr/>
        </p:nvSpPr>
        <p:spPr>
          <a:xfrm>
            <a:off x="6217920" y="4800600"/>
            <a:ext cx="411480" cy="411480"/>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3</a:t>
            </a:r>
            <a:endParaRPr lang="en-US" sz="1400" dirty="0"/>
          </a:p>
        </p:txBody>
      </p:sp>
      <p:sp>
        <p:nvSpPr>
          <p:cNvPr id="30" name="Shape 28"/>
          <p:cNvSpPr/>
          <p:nvPr/>
        </p:nvSpPr>
        <p:spPr>
          <a:xfrm>
            <a:off x="6766560" y="4709160"/>
            <a:ext cx="4937760" cy="1143000"/>
          </a:xfrm>
          <a:prstGeom prst="rect">
            <a:avLst/>
          </a:prstGeom>
          <a:solidFill>
            <a:srgbClr val="F4F6FB"/>
          </a:solidFill>
          <a:ln w="12700">
            <a:solidFill>
              <a:srgbClr val="F4F6FB"/>
            </a:solidFill>
            <a:prstDash val="solid"/>
          </a:ln>
        </p:spPr>
      </p:sp>
      <p:sp>
        <p:nvSpPr>
          <p:cNvPr id="31" name="Text 29"/>
          <p:cNvSpPr txBox="1"/>
          <p:nvPr/>
        </p:nvSpPr>
        <p:spPr>
          <a:xfrm>
            <a:off x="6949440" y="4709160"/>
            <a:ext cx="4572000" cy="1143000"/>
          </a:xfrm>
          <a:prstGeom prst="rect">
            <a:avLst/>
          </a:prstGeom>
          <a:noFill/>
          <a:ln/>
        </p:spPr>
        <p:txBody>
          <a:bodyPr wrap="square" lIns="0" tIns="0" rIns="0" bIns="0" rtlCol="0" anchor="ctr"/>
          <a:lstStyle/>
          <a:p>
            <a:pPr indent="0" marL="0">
              <a:buNone/>
            </a:pPr>
            <a:r>
              <a:rPr lang="en-US" sz="1400" dirty="0">
                <a:solidFill>
                  <a:srgbClr val="1B1B2F"/>
                </a:solidFill>
                <a:latin typeface="Times New Roman" pitchFamily="34" charset="0"/>
                <a:ea typeface="Times New Roman" pitchFamily="34" charset="-122"/>
                <a:cs typeface="Times New Roman" pitchFamily="34" charset="-120"/>
              </a:rPr>
              <a:t>Policy: shows whether harmonized rules are enough, or whether norms and networks still fragment European VC</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57200"/>
            <a:ext cx="11247120" cy="594360"/>
          </a:xfrm>
          <a:prstGeom prst="rect">
            <a:avLst/>
          </a:prstGeom>
          <a:noFill/>
          <a:ln/>
        </p:spPr>
        <p:txBody>
          <a:bodyPr wrap="square" lIns="0" tIns="0" rIns="0" bIns="0" rtlCol="0" anchor="ctr"/>
          <a:lstStyle/>
          <a:p>
            <a:pPr indent="0" marL="0">
              <a:buNone/>
            </a:pPr>
            <a:r>
              <a:rPr lang="en-US" sz="2400" b="1" dirty="0">
                <a:solidFill>
                  <a:srgbClr val="000000"/>
                </a:solidFill>
                <a:latin typeface="Times New Roman" pitchFamily="34" charset="0"/>
                <a:ea typeface="Times New Roman" pitchFamily="34" charset="-122"/>
                <a:cs typeface="Times New Roman" pitchFamily="34" charset="-120"/>
              </a:rPr>
              <a:t>How I address the gap: theoretical framework</a:t>
            </a:r>
            <a:endParaRPr lang="en-US" sz="2400" dirty="0"/>
          </a:p>
        </p:txBody>
      </p:sp>
      <p:sp>
        <p:nvSpPr>
          <p:cNvPr id="3" name="Text 1"/>
          <p:cNvSpPr txBox="1"/>
          <p:nvPr/>
        </p:nvSpPr>
        <p:spPr>
          <a:xfrm>
            <a:off x="11247120" y="6492240"/>
            <a:ext cx="685800" cy="228600"/>
          </a:xfrm>
          <a:prstGeom prst="rect">
            <a:avLst/>
          </a:prstGeom>
          <a:noFill/>
          <a:ln/>
        </p:spPr>
        <p:txBody>
          <a:bodyPr wrap="square" lIns="0" tIns="0" rIns="0" bIns="0" rtlCol="0" anchor="ctr"/>
          <a:lstStyle/>
          <a:p>
            <a:pPr algn="r" indent="0" marL="0">
              <a:buNone/>
            </a:pPr>
            <a:r>
              <a:rPr lang="en-US" sz="900" dirty="0">
                <a:solidFill>
                  <a:srgbClr val="5A5F73"/>
                </a:solidFill>
                <a:latin typeface="Times New Roman" pitchFamily="34" charset="0"/>
                <a:ea typeface="Times New Roman" pitchFamily="34" charset="-122"/>
                <a:cs typeface="Times New Roman" pitchFamily="34" charset="-120"/>
              </a:rPr>
              <a:t>6 / 11</a:t>
            </a:r>
            <a:endParaRPr lang="en-US" sz="900" dirty="0"/>
          </a:p>
        </p:txBody>
      </p:sp>
      <p:sp>
        <p:nvSpPr>
          <p:cNvPr id="4" name="Shape 2"/>
          <p:cNvSpPr/>
          <p:nvPr/>
        </p:nvSpPr>
        <p:spPr>
          <a:xfrm>
            <a:off x="457200" y="1325880"/>
            <a:ext cx="2697480" cy="868680"/>
          </a:xfrm>
          <a:prstGeom prst="rect">
            <a:avLst/>
          </a:prstGeom>
          <a:solidFill>
            <a:srgbClr val="000000"/>
          </a:solidFill>
          <a:ln w="12700">
            <a:solidFill>
              <a:srgbClr val="000000"/>
            </a:solidFill>
            <a:prstDash val="solid"/>
          </a:ln>
        </p:spPr>
      </p:sp>
      <p:sp>
        <p:nvSpPr>
          <p:cNvPr id="5" name="Text 3"/>
          <p:cNvSpPr txBox="1"/>
          <p:nvPr/>
        </p:nvSpPr>
        <p:spPr>
          <a:xfrm>
            <a:off x="457200" y="1325880"/>
            <a:ext cx="2697480" cy="868680"/>
          </a:xfrm>
          <a:prstGeom prst="rect">
            <a:avLst/>
          </a:prstGeom>
          <a:noFill/>
          <a:ln/>
        </p:spPr>
        <p:txBody>
          <a:bodyPr wrap="square" lIns="0" tIns="0" rIns="0" bIns="0" rtlCol="0" anchor="ct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Liability of foreignness</a:t>
            </a:r>
            <a:endParaRPr lang="en-US" sz="1500" dirty="0"/>
          </a:p>
        </p:txBody>
      </p:sp>
      <p:sp>
        <p:nvSpPr>
          <p:cNvPr id="6" name="Shape 4"/>
          <p:cNvSpPr/>
          <p:nvPr/>
        </p:nvSpPr>
        <p:spPr>
          <a:xfrm>
            <a:off x="457200" y="2194560"/>
            <a:ext cx="2697480" cy="2240280"/>
          </a:xfrm>
          <a:prstGeom prst="rect">
            <a:avLst/>
          </a:prstGeom>
          <a:solidFill>
            <a:srgbClr val="E7E6E6"/>
          </a:solidFill>
          <a:ln w="12700">
            <a:solidFill>
              <a:srgbClr val="E7E6E6"/>
            </a:solidFill>
            <a:prstDash val="solid"/>
          </a:ln>
        </p:spPr>
      </p:sp>
      <p:sp>
        <p:nvSpPr>
          <p:cNvPr id="7" name="Text 5"/>
          <p:cNvSpPr txBox="1"/>
          <p:nvPr/>
        </p:nvSpPr>
        <p:spPr>
          <a:xfrm>
            <a:off x="640080" y="2331720"/>
            <a:ext cx="2331720" cy="1325880"/>
          </a:xfrm>
          <a:prstGeom prst="rect">
            <a:avLst/>
          </a:prstGeom>
          <a:noFill/>
          <a:ln/>
        </p:spPr>
        <p:txBody>
          <a:bodyPr wrap="square" lIns="0" tIns="0" rIns="0" bIns="0" rtlCol="0" anchor="ctr"/>
          <a:lstStyle/>
          <a:p>
            <a:pPr algn="ctr" indent="0" marL="0">
              <a:buNone/>
            </a:pPr>
            <a:r>
              <a:rPr lang="en-US" sz="1400" dirty="0">
                <a:solidFill>
                  <a:srgbClr val="1B1B2F"/>
                </a:solidFill>
                <a:latin typeface="Times New Roman" pitchFamily="34" charset="0"/>
                <a:ea typeface="Times New Roman" pitchFamily="34" charset="-122"/>
                <a:cs typeface="Times New Roman" pitchFamily="34" charset="-120"/>
              </a:rPr>
              <a:t>Why cross-border deals perform worse</a:t>
            </a:r>
            <a:endParaRPr lang="en-US" sz="1400" dirty="0"/>
          </a:p>
        </p:txBody>
      </p:sp>
      <p:sp>
        <p:nvSpPr>
          <p:cNvPr id="8" name="Text 6"/>
          <p:cNvSpPr txBox="1"/>
          <p:nvPr/>
        </p:nvSpPr>
        <p:spPr>
          <a:xfrm>
            <a:off x="640080" y="3703320"/>
            <a:ext cx="2331720" cy="640080"/>
          </a:xfrm>
          <a:prstGeom prst="rect">
            <a:avLst/>
          </a:prstGeom>
          <a:noFill/>
          <a:ln/>
        </p:spPr>
        <p:txBody>
          <a:bodyPr wrap="square" lIns="0" tIns="0" rIns="0" bIns="0" rtlCol="0" anchor="ctr"/>
          <a:lstStyle/>
          <a:p>
            <a:pPr algn="ctr" indent="0" marL="0">
              <a:buNone/>
            </a:pPr>
            <a:r>
              <a:rPr lang="en-US" sz="1100" i="1" dirty="0">
                <a:solidFill>
                  <a:srgbClr val="5A5F73"/>
                </a:solidFill>
                <a:latin typeface="Times New Roman" pitchFamily="34" charset="0"/>
                <a:ea typeface="Times New Roman" pitchFamily="34" charset="-122"/>
                <a:cs typeface="Times New Roman" pitchFamily="34" charset="-120"/>
              </a:rPr>
              <a:t>Zaheer (1995); Zhou &amp; Guillén (2015)</a:t>
            </a:r>
            <a:endParaRPr lang="en-US" sz="1100" dirty="0"/>
          </a:p>
        </p:txBody>
      </p:sp>
      <p:sp>
        <p:nvSpPr>
          <p:cNvPr id="9" name="Shape 7"/>
          <p:cNvSpPr/>
          <p:nvPr/>
        </p:nvSpPr>
        <p:spPr>
          <a:xfrm>
            <a:off x="3291840" y="1325880"/>
            <a:ext cx="2697480" cy="868680"/>
          </a:xfrm>
          <a:prstGeom prst="rect">
            <a:avLst/>
          </a:prstGeom>
          <a:solidFill>
            <a:srgbClr val="000000"/>
          </a:solidFill>
          <a:ln w="12700">
            <a:solidFill>
              <a:srgbClr val="000000"/>
            </a:solidFill>
            <a:prstDash val="solid"/>
          </a:ln>
        </p:spPr>
      </p:sp>
      <p:sp>
        <p:nvSpPr>
          <p:cNvPr id="10" name="Text 8"/>
          <p:cNvSpPr txBox="1"/>
          <p:nvPr/>
        </p:nvSpPr>
        <p:spPr>
          <a:xfrm>
            <a:off x="3291840" y="1325880"/>
            <a:ext cx="2697480" cy="868680"/>
          </a:xfrm>
          <a:prstGeom prst="rect">
            <a:avLst/>
          </a:prstGeom>
          <a:noFill/>
          <a:ln/>
        </p:spPr>
        <p:txBody>
          <a:bodyPr wrap="square" lIns="0" tIns="0" rIns="0" bIns="0" rtlCol="0" anchor="ct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Institutional theory &amp; national distance</a:t>
            </a:r>
            <a:endParaRPr lang="en-US" sz="1500" dirty="0"/>
          </a:p>
        </p:txBody>
      </p:sp>
      <p:sp>
        <p:nvSpPr>
          <p:cNvPr id="11" name="Shape 9"/>
          <p:cNvSpPr/>
          <p:nvPr/>
        </p:nvSpPr>
        <p:spPr>
          <a:xfrm>
            <a:off x="3291840" y="2194560"/>
            <a:ext cx="2697480" cy="2240280"/>
          </a:xfrm>
          <a:prstGeom prst="rect">
            <a:avLst/>
          </a:prstGeom>
          <a:solidFill>
            <a:srgbClr val="E7E6E6"/>
          </a:solidFill>
          <a:ln w="12700">
            <a:solidFill>
              <a:srgbClr val="E7E6E6"/>
            </a:solidFill>
            <a:prstDash val="solid"/>
          </a:ln>
        </p:spPr>
      </p:sp>
      <p:sp>
        <p:nvSpPr>
          <p:cNvPr id="12" name="Text 10"/>
          <p:cNvSpPr txBox="1"/>
          <p:nvPr/>
        </p:nvSpPr>
        <p:spPr>
          <a:xfrm>
            <a:off x="3474720" y="2331720"/>
            <a:ext cx="2331720" cy="1325880"/>
          </a:xfrm>
          <a:prstGeom prst="rect">
            <a:avLst/>
          </a:prstGeom>
          <a:noFill/>
          <a:ln/>
        </p:spPr>
        <p:txBody>
          <a:bodyPr wrap="square" lIns="0" tIns="0" rIns="0" bIns="0" rtlCol="0" anchor="ctr"/>
          <a:lstStyle/>
          <a:p>
            <a:pPr algn="ctr" indent="0" marL="0">
              <a:buNone/>
            </a:pPr>
            <a:r>
              <a:rPr lang="en-US" sz="1400" dirty="0">
                <a:solidFill>
                  <a:srgbClr val="1B1B2F"/>
                </a:solidFill>
                <a:latin typeface="Times New Roman" pitchFamily="34" charset="0"/>
                <a:ea typeface="Times New Roman" pitchFamily="34" charset="-122"/>
                <a:cs typeface="Times New Roman" pitchFamily="34" charset="-120"/>
              </a:rPr>
              <a:t>Which distance: formal rules (institutional), informal norms (cultural), physical (geographic)</a:t>
            </a:r>
            <a:endParaRPr lang="en-US" sz="1400" dirty="0"/>
          </a:p>
        </p:txBody>
      </p:sp>
      <p:sp>
        <p:nvSpPr>
          <p:cNvPr id="13" name="Text 11"/>
          <p:cNvSpPr txBox="1"/>
          <p:nvPr/>
        </p:nvSpPr>
        <p:spPr>
          <a:xfrm>
            <a:off x="3474720" y="3703320"/>
            <a:ext cx="2331720" cy="640080"/>
          </a:xfrm>
          <a:prstGeom prst="rect">
            <a:avLst/>
          </a:prstGeom>
          <a:noFill/>
          <a:ln/>
        </p:spPr>
        <p:txBody>
          <a:bodyPr wrap="square" lIns="0" tIns="0" rIns="0" bIns="0" rtlCol="0" anchor="ctr"/>
          <a:lstStyle/>
          <a:p>
            <a:pPr algn="ctr" indent="0" marL="0">
              <a:buNone/>
            </a:pPr>
            <a:r>
              <a:rPr lang="en-US" sz="1100" i="1" dirty="0">
                <a:solidFill>
                  <a:srgbClr val="5A5F73"/>
                </a:solidFill>
                <a:latin typeface="Times New Roman" pitchFamily="34" charset="0"/>
                <a:ea typeface="Times New Roman" pitchFamily="34" charset="-122"/>
                <a:cs typeface="Times New Roman" pitchFamily="34" charset="-120"/>
              </a:rPr>
              <a:t>Kostova (1999); Kogut &amp; Singh (1988); Berry et al. (2010)</a:t>
            </a:r>
            <a:endParaRPr lang="en-US" sz="1100" dirty="0"/>
          </a:p>
        </p:txBody>
      </p:sp>
      <p:sp>
        <p:nvSpPr>
          <p:cNvPr id="14" name="Shape 12"/>
          <p:cNvSpPr/>
          <p:nvPr/>
        </p:nvSpPr>
        <p:spPr>
          <a:xfrm>
            <a:off x="6126480" y="1325880"/>
            <a:ext cx="2697480" cy="868680"/>
          </a:xfrm>
          <a:prstGeom prst="rect">
            <a:avLst/>
          </a:prstGeom>
          <a:solidFill>
            <a:srgbClr val="000000"/>
          </a:solidFill>
          <a:ln w="12700">
            <a:solidFill>
              <a:srgbClr val="000000"/>
            </a:solidFill>
            <a:prstDash val="solid"/>
          </a:ln>
        </p:spPr>
      </p:sp>
      <p:sp>
        <p:nvSpPr>
          <p:cNvPr id="15" name="Text 13"/>
          <p:cNvSpPr txBox="1"/>
          <p:nvPr/>
        </p:nvSpPr>
        <p:spPr>
          <a:xfrm>
            <a:off x="6126480" y="1325880"/>
            <a:ext cx="2697480" cy="868680"/>
          </a:xfrm>
          <a:prstGeom prst="rect">
            <a:avLst/>
          </a:prstGeom>
          <a:noFill/>
          <a:ln/>
        </p:spPr>
        <p:txBody>
          <a:bodyPr wrap="square" lIns="0" tIns="0" rIns="0" bIns="0" rtlCol="0" anchor="ct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Knowledge-based view  (BUILD)</a:t>
            </a:r>
            <a:endParaRPr lang="en-US" sz="1500" dirty="0"/>
          </a:p>
        </p:txBody>
      </p:sp>
      <p:sp>
        <p:nvSpPr>
          <p:cNvPr id="16" name="Shape 14"/>
          <p:cNvSpPr/>
          <p:nvPr/>
        </p:nvSpPr>
        <p:spPr>
          <a:xfrm>
            <a:off x="6126480" y="2194560"/>
            <a:ext cx="2697480" cy="2240280"/>
          </a:xfrm>
          <a:prstGeom prst="rect">
            <a:avLst/>
          </a:prstGeom>
          <a:solidFill>
            <a:srgbClr val="E7E6E6"/>
          </a:solidFill>
          <a:ln w="12700">
            <a:solidFill>
              <a:srgbClr val="E7E6E6"/>
            </a:solidFill>
            <a:prstDash val="solid"/>
          </a:ln>
        </p:spPr>
      </p:sp>
      <p:sp>
        <p:nvSpPr>
          <p:cNvPr id="17" name="Text 15"/>
          <p:cNvSpPr txBox="1"/>
          <p:nvPr/>
        </p:nvSpPr>
        <p:spPr>
          <a:xfrm>
            <a:off x="6309360" y="2331720"/>
            <a:ext cx="2331720" cy="1325880"/>
          </a:xfrm>
          <a:prstGeom prst="rect">
            <a:avLst/>
          </a:prstGeom>
          <a:noFill/>
          <a:ln/>
        </p:spPr>
        <p:txBody>
          <a:bodyPr wrap="square" lIns="0" tIns="0" rIns="0" bIns="0" rtlCol="0" anchor="ctr"/>
          <a:lstStyle/>
          <a:p>
            <a:pPr algn="ctr" indent="0" marL="0">
              <a:buNone/>
            </a:pPr>
            <a:r>
              <a:rPr lang="en-US" sz="1400" dirty="0">
                <a:solidFill>
                  <a:srgbClr val="1B1B2F"/>
                </a:solidFill>
                <a:latin typeface="Times New Roman" pitchFamily="34" charset="0"/>
                <a:ea typeface="Times New Roman" pitchFamily="34" charset="-122"/>
                <a:cs typeface="Times New Roman" pitchFamily="34" charset="-120"/>
              </a:rPr>
              <a:t>Industry knowledge is codified and portable across borders</a:t>
            </a:r>
            <a:endParaRPr lang="en-US" sz="1400" dirty="0"/>
          </a:p>
        </p:txBody>
      </p:sp>
      <p:sp>
        <p:nvSpPr>
          <p:cNvPr id="18" name="Text 16"/>
          <p:cNvSpPr txBox="1"/>
          <p:nvPr/>
        </p:nvSpPr>
        <p:spPr>
          <a:xfrm>
            <a:off x="6309360" y="3703320"/>
            <a:ext cx="2331720" cy="640080"/>
          </a:xfrm>
          <a:prstGeom prst="rect">
            <a:avLst/>
          </a:prstGeom>
          <a:noFill/>
          <a:ln/>
        </p:spPr>
        <p:txBody>
          <a:bodyPr wrap="square" lIns="0" tIns="0" rIns="0" bIns="0" rtlCol="0" anchor="ctr"/>
          <a:lstStyle/>
          <a:p>
            <a:pPr algn="ctr" indent="0" marL="0">
              <a:buNone/>
            </a:pPr>
            <a:r>
              <a:rPr lang="en-US" sz="1100" i="1" dirty="0">
                <a:solidFill>
                  <a:srgbClr val="5A5F73"/>
                </a:solidFill>
                <a:latin typeface="Times New Roman" pitchFamily="34" charset="0"/>
                <a:ea typeface="Times New Roman" pitchFamily="34" charset="-122"/>
                <a:cs typeface="Times New Roman" pitchFamily="34" charset="-120"/>
              </a:rPr>
              <a:t>Grant (1996); Kogut &amp; Zander (1992); Gompers et al. (2009)</a:t>
            </a:r>
            <a:endParaRPr lang="en-US" sz="1100" dirty="0"/>
          </a:p>
        </p:txBody>
      </p:sp>
      <p:sp>
        <p:nvSpPr>
          <p:cNvPr id="19" name="Shape 17"/>
          <p:cNvSpPr/>
          <p:nvPr/>
        </p:nvSpPr>
        <p:spPr>
          <a:xfrm>
            <a:off x="8961120" y="1325880"/>
            <a:ext cx="2697480" cy="868680"/>
          </a:xfrm>
          <a:prstGeom prst="rect">
            <a:avLst/>
          </a:prstGeom>
          <a:solidFill>
            <a:srgbClr val="000000"/>
          </a:solidFill>
          <a:ln w="12700">
            <a:solidFill>
              <a:srgbClr val="000000"/>
            </a:solidFill>
            <a:prstDash val="solid"/>
          </a:ln>
        </p:spPr>
      </p:sp>
      <p:sp>
        <p:nvSpPr>
          <p:cNvPr id="20" name="Text 18"/>
          <p:cNvSpPr txBox="1"/>
          <p:nvPr/>
        </p:nvSpPr>
        <p:spPr>
          <a:xfrm>
            <a:off x="8961120" y="1325880"/>
            <a:ext cx="2697480" cy="868680"/>
          </a:xfrm>
          <a:prstGeom prst="rect">
            <a:avLst/>
          </a:prstGeom>
          <a:noFill/>
          <a:ln/>
        </p:spPr>
        <p:txBody>
          <a:bodyPr wrap="square" lIns="0" tIns="0" rIns="0" bIns="0" rtlCol="0" anchor="ct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Embeddedness &amp; networks  (BORROW)</a:t>
            </a:r>
            <a:endParaRPr lang="en-US" sz="1500" dirty="0"/>
          </a:p>
        </p:txBody>
      </p:sp>
      <p:sp>
        <p:nvSpPr>
          <p:cNvPr id="21" name="Shape 19"/>
          <p:cNvSpPr/>
          <p:nvPr/>
        </p:nvSpPr>
        <p:spPr>
          <a:xfrm>
            <a:off x="8961120" y="2194560"/>
            <a:ext cx="2697480" cy="2240280"/>
          </a:xfrm>
          <a:prstGeom prst="rect">
            <a:avLst/>
          </a:prstGeom>
          <a:solidFill>
            <a:srgbClr val="E7E6E6"/>
          </a:solidFill>
          <a:ln w="12700">
            <a:solidFill>
              <a:srgbClr val="E7E6E6"/>
            </a:solidFill>
            <a:prstDash val="solid"/>
          </a:ln>
        </p:spPr>
      </p:sp>
      <p:sp>
        <p:nvSpPr>
          <p:cNvPr id="22" name="Text 20"/>
          <p:cNvSpPr txBox="1"/>
          <p:nvPr/>
        </p:nvSpPr>
        <p:spPr>
          <a:xfrm>
            <a:off x="9144000" y="2331720"/>
            <a:ext cx="2331720" cy="1325880"/>
          </a:xfrm>
          <a:prstGeom prst="rect">
            <a:avLst/>
          </a:prstGeom>
          <a:noFill/>
          <a:ln/>
        </p:spPr>
        <p:txBody>
          <a:bodyPr wrap="square" lIns="0" tIns="0" rIns="0" bIns="0" rtlCol="0" anchor="ctr"/>
          <a:lstStyle/>
          <a:p>
            <a:pPr algn="ctr" indent="0" marL="0">
              <a:buNone/>
            </a:pPr>
            <a:r>
              <a:rPr lang="en-US" sz="1400" dirty="0">
                <a:solidFill>
                  <a:srgbClr val="1B1B2F"/>
                </a:solidFill>
                <a:latin typeface="Times New Roman" pitchFamily="34" charset="0"/>
                <a:ea typeface="Times New Roman" pitchFamily="34" charset="-122"/>
                <a:cs typeface="Times New Roman" pitchFamily="34" charset="-120"/>
              </a:rPr>
              <a:t>Tacit, local knowledge comes through embedded local partners</a:t>
            </a:r>
            <a:endParaRPr lang="en-US" sz="1400" dirty="0"/>
          </a:p>
        </p:txBody>
      </p:sp>
      <p:sp>
        <p:nvSpPr>
          <p:cNvPr id="23" name="Text 21"/>
          <p:cNvSpPr txBox="1"/>
          <p:nvPr/>
        </p:nvSpPr>
        <p:spPr>
          <a:xfrm>
            <a:off x="9144000" y="3703320"/>
            <a:ext cx="2331720" cy="640080"/>
          </a:xfrm>
          <a:prstGeom prst="rect">
            <a:avLst/>
          </a:prstGeom>
          <a:noFill/>
          <a:ln/>
        </p:spPr>
        <p:txBody>
          <a:bodyPr wrap="square" lIns="0" tIns="0" rIns="0" bIns="0" rtlCol="0" anchor="ctr"/>
          <a:lstStyle/>
          <a:p>
            <a:pPr algn="ctr" indent="0" marL="0">
              <a:buNone/>
            </a:pPr>
            <a:r>
              <a:rPr lang="en-US" sz="1100" i="1" dirty="0">
                <a:solidFill>
                  <a:srgbClr val="5A5F73"/>
                </a:solidFill>
                <a:latin typeface="Times New Roman" pitchFamily="34" charset="0"/>
                <a:ea typeface="Times New Roman" pitchFamily="34" charset="-122"/>
                <a:cs typeface="Times New Roman" pitchFamily="34" charset="-120"/>
              </a:rPr>
              <a:t>Granovetter (1985); Gulati (1998); Sorenson &amp; Stuart (2001)</a:t>
            </a:r>
            <a:endParaRPr lang="en-US" sz="1100" dirty="0"/>
          </a:p>
        </p:txBody>
      </p:sp>
      <p:sp>
        <p:nvSpPr>
          <p:cNvPr id="24" name="Shape 22"/>
          <p:cNvSpPr/>
          <p:nvPr/>
        </p:nvSpPr>
        <p:spPr>
          <a:xfrm>
            <a:off x="457200" y="4709160"/>
            <a:ext cx="11247120" cy="1371600"/>
          </a:xfrm>
          <a:prstGeom prst="rect">
            <a:avLst/>
          </a:prstGeom>
          <a:solidFill>
            <a:srgbClr val="F4F6FB"/>
          </a:solidFill>
          <a:ln w="12700">
            <a:solidFill>
              <a:srgbClr val="F4F6FB"/>
            </a:solidFill>
            <a:prstDash val="solid"/>
          </a:ln>
        </p:spPr>
      </p:sp>
      <p:sp>
        <p:nvSpPr>
          <p:cNvPr id="25" name="Text 23"/>
          <p:cNvSpPr txBox="1"/>
          <p:nvPr/>
        </p:nvSpPr>
        <p:spPr>
          <a:xfrm>
            <a:off x="731520" y="4800600"/>
            <a:ext cx="10698480" cy="320040"/>
          </a:xfrm>
          <a:prstGeom prst="rect">
            <a:avLst/>
          </a:prstGeom>
          <a:noFill/>
          <a:ln/>
        </p:spPr>
        <p:txBody>
          <a:bodyPr wrap="square" lIns="0" tIns="0" rIns="0" bIns="0" rtlCol="0" anchor="t"/>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Core logic</a:t>
            </a:r>
            <a:endParaRPr lang="en-US" sz="1600" dirty="0"/>
          </a:p>
        </p:txBody>
      </p:sp>
      <p:sp>
        <p:nvSpPr>
          <p:cNvPr id="26" name="Text 24"/>
          <p:cNvSpPr txBox="1"/>
          <p:nvPr/>
        </p:nvSpPr>
        <p:spPr>
          <a:xfrm>
            <a:off x="731520" y="5138928"/>
            <a:ext cx="10698480" cy="868680"/>
          </a:xfrm>
          <a:prstGeom prst="rect">
            <a:avLst/>
          </a:prstGeom>
          <a:noFill/>
          <a:ln/>
        </p:spPr>
        <p:txBody>
          <a:bodyPr wrap="square" lIns="0" tIns="0" rIns="0" bIns="0" rtlCol="0" anchor="t"/>
          <a:lstStyle/>
          <a:p>
            <a:pPr indent="0" marL="0">
              <a:buNone/>
            </a:pPr>
            <a:r>
              <a:rPr lang="en-US" sz="1350" dirty="0">
                <a:solidFill>
                  <a:srgbClr val="1B1B2F"/>
                </a:solidFill>
                <a:latin typeface="Times New Roman" pitchFamily="34" charset="0"/>
                <a:ea typeface="Times New Roman" pitchFamily="34" charset="-122"/>
                <a:cs typeface="Times New Roman" pitchFamily="34" charset="-120"/>
              </a:rPr>
              <a:t>Formal rules are codified: a specialist learns how its industry works under different rules once and reuses it, so BUILD offsets institutional distance. Norms and on-site presence are tacit and tied to a place, so they must be BORROWED from a local co-investor. VC value-add (screening, monitoring, certification) links both to exit success (Megginson &amp; Weiss, 1991; Sørensen, 2007).</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57200"/>
            <a:ext cx="11247120" cy="594360"/>
          </a:xfrm>
          <a:prstGeom prst="rect">
            <a:avLst/>
          </a:prstGeom>
          <a:noFill/>
          <a:ln/>
        </p:spPr>
        <p:txBody>
          <a:bodyPr wrap="square" lIns="0" tIns="0" rIns="0" bIns="0" rtlCol="0" anchor="ctr"/>
          <a:lstStyle/>
          <a:p>
            <a:pPr indent="0" marL="0">
              <a:buNone/>
            </a:pPr>
            <a:r>
              <a:rPr lang="en-US" sz="2400" b="1" dirty="0">
                <a:solidFill>
                  <a:srgbClr val="000000"/>
                </a:solidFill>
                <a:latin typeface="Times New Roman" pitchFamily="34" charset="0"/>
                <a:ea typeface="Times New Roman" pitchFamily="34" charset="-122"/>
                <a:cs typeface="Times New Roman" pitchFamily="34" charset="-120"/>
              </a:rPr>
              <a:t>Conceptual model</a:t>
            </a:r>
            <a:endParaRPr lang="en-US" sz="2400" dirty="0"/>
          </a:p>
        </p:txBody>
      </p:sp>
      <p:sp>
        <p:nvSpPr>
          <p:cNvPr id="3" name="Text 1"/>
          <p:cNvSpPr txBox="1"/>
          <p:nvPr/>
        </p:nvSpPr>
        <p:spPr>
          <a:xfrm>
            <a:off x="11247120" y="6492240"/>
            <a:ext cx="685800" cy="228600"/>
          </a:xfrm>
          <a:prstGeom prst="rect">
            <a:avLst/>
          </a:prstGeom>
          <a:noFill/>
          <a:ln/>
        </p:spPr>
        <p:txBody>
          <a:bodyPr wrap="square" lIns="0" tIns="0" rIns="0" bIns="0" rtlCol="0" anchor="ctr"/>
          <a:lstStyle/>
          <a:p>
            <a:pPr algn="r" indent="0" marL="0">
              <a:buNone/>
            </a:pPr>
            <a:r>
              <a:rPr lang="en-US" sz="900" dirty="0">
                <a:solidFill>
                  <a:srgbClr val="5A5F73"/>
                </a:solidFill>
                <a:latin typeface="Times New Roman" pitchFamily="34" charset="0"/>
                <a:ea typeface="Times New Roman" pitchFamily="34" charset="-122"/>
                <a:cs typeface="Times New Roman" pitchFamily="34" charset="-120"/>
              </a:rPr>
              <a:t>7 / 11</a:t>
            </a:r>
            <a:endParaRPr lang="en-US" sz="900" dirty="0"/>
          </a:p>
        </p:txBody>
      </p:sp>
      <p:sp>
        <p:nvSpPr>
          <p:cNvPr id="4" name="Shape 2"/>
          <p:cNvSpPr/>
          <p:nvPr/>
        </p:nvSpPr>
        <p:spPr>
          <a:xfrm>
            <a:off x="548640" y="2057400"/>
            <a:ext cx="2926080" cy="777240"/>
          </a:xfrm>
          <a:prstGeom prst="rect">
            <a:avLst/>
          </a:prstGeom>
          <a:solidFill>
            <a:srgbClr val="E7E6E6"/>
          </a:solidFill>
          <a:ln w="12700">
            <a:solidFill>
              <a:srgbClr val="E7E6E6"/>
            </a:solidFill>
            <a:prstDash val="solid"/>
          </a:ln>
        </p:spPr>
      </p:sp>
      <p:sp>
        <p:nvSpPr>
          <p:cNvPr id="5" name="Text 3"/>
          <p:cNvSpPr txBox="1"/>
          <p:nvPr/>
        </p:nvSpPr>
        <p:spPr>
          <a:xfrm>
            <a:off x="548640" y="2130552"/>
            <a:ext cx="2926080" cy="384048"/>
          </a:xfrm>
          <a:prstGeom prst="rect">
            <a:avLst/>
          </a:prstGeom>
          <a:noFill/>
          <a:ln/>
        </p:spPr>
        <p:txBody>
          <a:bodyPr wrap="square" lIns="0" tIns="0" rIns="0" bIns="0" rtlCol="0" anchor="ctr"/>
          <a:lstStyle/>
          <a:p>
            <a:pPr algn="ctr" indent="0" marL="0">
              <a:buNone/>
            </a:pPr>
            <a:r>
              <a:rPr lang="en-US" sz="1500" b="1" dirty="0">
                <a:solidFill>
                  <a:srgbClr val="000000"/>
                </a:solidFill>
                <a:latin typeface="Times New Roman" pitchFamily="34" charset="0"/>
                <a:ea typeface="Times New Roman" pitchFamily="34" charset="-122"/>
                <a:cs typeface="Times New Roman" pitchFamily="34" charset="-120"/>
              </a:rPr>
              <a:t>Institutional distance</a:t>
            </a:r>
            <a:endParaRPr lang="en-US" sz="1500" dirty="0"/>
          </a:p>
        </p:txBody>
      </p:sp>
      <p:sp>
        <p:nvSpPr>
          <p:cNvPr id="6" name="Text 4"/>
          <p:cNvSpPr txBox="1"/>
          <p:nvPr/>
        </p:nvSpPr>
        <p:spPr>
          <a:xfrm>
            <a:off x="548640" y="2496312"/>
            <a:ext cx="2926080" cy="274320"/>
          </a:xfrm>
          <a:prstGeom prst="rect">
            <a:avLst/>
          </a:prstGeom>
          <a:noFill/>
          <a:ln/>
        </p:spPr>
        <p:txBody>
          <a:bodyPr wrap="square" lIns="0" tIns="0" rIns="0" bIns="0" rtlCol="0" anchor="ctr"/>
          <a:lstStyle/>
          <a:p>
            <a:pPr algn="ctr" indent="0" marL="0">
              <a:buNone/>
            </a:pPr>
            <a:r>
              <a:rPr lang="en-US" sz="1100" dirty="0">
                <a:solidFill>
                  <a:srgbClr val="5A5F73"/>
                </a:solidFill>
                <a:latin typeface="Times New Roman" pitchFamily="34" charset="0"/>
                <a:ea typeface="Times New Roman" pitchFamily="34" charset="-122"/>
                <a:cs typeface="Times New Roman" pitchFamily="34" charset="-120"/>
              </a:rPr>
              <a:t>regulatory quality, rule of law</a:t>
            </a:r>
            <a:endParaRPr lang="en-US" sz="1100" dirty="0"/>
          </a:p>
        </p:txBody>
      </p:sp>
      <p:sp>
        <p:nvSpPr>
          <p:cNvPr id="7" name="Shape 5"/>
          <p:cNvSpPr/>
          <p:nvPr/>
        </p:nvSpPr>
        <p:spPr>
          <a:xfrm>
            <a:off x="548640" y="3246120"/>
            <a:ext cx="2926080" cy="777240"/>
          </a:xfrm>
          <a:prstGeom prst="rect">
            <a:avLst/>
          </a:prstGeom>
          <a:solidFill>
            <a:srgbClr val="E7E6E6"/>
          </a:solidFill>
          <a:ln w="12700">
            <a:solidFill>
              <a:srgbClr val="E7E6E6"/>
            </a:solidFill>
            <a:prstDash val="solid"/>
          </a:ln>
        </p:spPr>
      </p:sp>
      <p:sp>
        <p:nvSpPr>
          <p:cNvPr id="8" name="Text 6"/>
          <p:cNvSpPr txBox="1"/>
          <p:nvPr/>
        </p:nvSpPr>
        <p:spPr>
          <a:xfrm>
            <a:off x="548640" y="3319272"/>
            <a:ext cx="2926080" cy="384048"/>
          </a:xfrm>
          <a:prstGeom prst="rect">
            <a:avLst/>
          </a:prstGeom>
          <a:noFill/>
          <a:ln/>
        </p:spPr>
        <p:txBody>
          <a:bodyPr wrap="square" lIns="0" tIns="0" rIns="0" bIns="0" rtlCol="0" anchor="ctr"/>
          <a:lstStyle/>
          <a:p>
            <a:pPr algn="ctr" indent="0" marL="0">
              <a:buNone/>
            </a:pPr>
            <a:r>
              <a:rPr lang="en-US" sz="1500" b="1" dirty="0">
                <a:solidFill>
                  <a:srgbClr val="000000"/>
                </a:solidFill>
                <a:latin typeface="Times New Roman" pitchFamily="34" charset="0"/>
                <a:ea typeface="Times New Roman" pitchFamily="34" charset="-122"/>
                <a:cs typeface="Times New Roman" pitchFamily="34" charset="-120"/>
              </a:rPr>
              <a:t>Cultural distance</a:t>
            </a:r>
            <a:endParaRPr lang="en-US" sz="1500" dirty="0"/>
          </a:p>
        </p:txBody>
      </p:sp>
      <p:sp>
        <p:nvSpPr>
          <p:cNvPr id="9" name="Text 7"/>
          <p:cNvSpPr txBox="1"/>
          <p:nvPr/>
        </p:nvSpPr>
        <p:spPr>
          <a:xfrm>
            <a:off x="548640" y="3685032"/>
            <a:ext cx="2926080" cy="274320"/>
          </a:xfrm>
          <a:prstGeom prst="rect">
            <a:avLst/>
          </a:prstGeom>
          <a:noFill/>
          <a:ln/>
        </p:spPr>
        <p:txBody>
          <a:bodyPr wrap="square" lIns="0" tIns="0" rIns="0" bIns="0" rtlCol="0" anchor="ctr"/>
          <a:lstStyle/>
          <a:p>
            <a:pPr algn="ctr" indent="0" marL="0">
              <a:buNone/>
            </a:pPr>
            <a:r>
              <a:rPr lang="en-US" sz="1100" dirty="0">
                <a:solidFill>
                  <a:srgbClr val="5A5F73"/>
                </a:solidFill>
                <a:latin typeface="Times New Roman" pitchFamily="34" charset="0"/>
                <a:ea typeface="Times New Roman" pitchFamily="34" charset="-122"/>
                <a:cs typeface="Times New Roman" pitchFamily="34" charset="-120"/>
              </a:rPr>
              <a:t>informal norms and values</a:t>
            </a:r>
            <a:endParaRPr lang="en-US" sz="1100" dirty="0"/>
          </a:p>
        </p:txBody>
      </p:sp>
      <p:sp>
        <p:nvSpPr>
          <p:cNvPr id="10" name="Shape 8"/>
          <p:cNvSpPr/>
          <p:nvPr/>
        </p:nvSpPr>
        <p:spPr>
          <a:xfrm>
            <a:off x="548640" y="4434840"/>
            <a:ext cx="2926080" cy="777240"/>
          </a:xfrm>
          <a:prstGeom prst="rect">
            <a:avLst/>
          </a:prstGeom>
          <a:solidFill>
            <a:srgbClr val="E7E6E6"/>
          </a:solidFill>
          <a:ln w="12700">
            <a:solidFill>
              <a:srgbClr val="E7E6E6"/>
            </a:solidFill>
            <a:prstDash val="solid"/>
          </a:ln>
        </p:spPr>
      </p:sp>
      <p:sp>
        <p:nvSpPr>
          <p:cNvPr id="11" name="Text 9"/>
          <p:cNvSpPr txBox="1"/>
          <p:nvPr/>
        </p:nvSpPr>
        <p:spPr>
          <a:xfrm>
            <a:off x="548640" y="4507992"/>
            <a:ext cx="2926080" cy="384048"/>
          </a:xfrm>
          <a:prstGeom prst="rect">
            <a:avLst/>
          </a:prstGeom>
          <a:noFill/>
          <a:ln/>
        </p:spPr>
        <p:txBody>
          <a:bodyPr wrap="square" lIns="0" tIns="0" rIns="0" bIns="0" rtlCol="0" anchor="ctr"/>
          <a:lstStyle/>
          <a:p>
            <a:pPr algn="ctr" indent="0" marL="0">
              <a:buNone/>
            </a:pPr>
            <a:r>
              <a:rPr lang="en-US" sz="1500" b="1" dirty="0">
                <a:solidFill>
                  <a:srgbClr val="000000"/>
                </a:solidFill>
                <a:latin typeface="Times New Roman" pitchFamily="34" charset="0"/>
                <a:ea typeface="Times New Roman" pitchFamily="34" charset="-122"/>
                <a:cs typeface="Times New Roman" pitchFamily="34" charset="-120"/>
              </a:rPr>
              <a:t>Geographic distance</a:t>
            </a:r>
            <a:endParaRPr lang="en-US" sz="1500" dirty="0"/>
          </a:p>
        </p:txBody>
      </p:sp>
      <p:sp>
        <p:nvSpPr>
          <p:cNvPr id="12" name="Text 10"/>
          <p:cNvSpPr txBox="1"/>
          <p:nvPr/>
        </p:nvSpPr>
        <p:spPr>
          <a:xfrm>
            <a:off x="548640" y="4873752"/>
            <a:ext cx="2926080" cy="274320"/>
          </a:xfrm>
          <a:prstGeom prst="rect">
            <a:avLst/>
          </a:prstGeom>
          <a:noFill/>
          <a:ln/>
        </p:spPr>
        <p:txBody>
          <a:bodyPr wrap="square" lIns="0" tIns="0" rIns="0" bIns="0" rtlCol="0" anchor="ctr"/>
          <a:lstStyle/>
          <a:p>
            <a:pPr algn="ctr" indent="0" marL="0">
              <a:buNone/>
            </a:pPr>
            <a:r>
              <a:rPr lang="en-US" sz="1100" dirty="0">
                <a:solidFill>
                  <a:srgbClr val="5A5F73"/>
                </a:solidFill>
                <a:latin typeface="Times New Roman" pitchFamily="34" charset="0"/>
                <a:ea typeface="Times New Roman" pitchFamily="34" charset="-122"/>
                <a:cs typeface="Times New Roman" pitchFamily="34" charset="-120"/>
              </a:rPr>
              <a:t>physical km</a:t>
            </a:r>
            <a:endParaRPr lang="en-US" sz="1100" dirty="0"/>
          </a:p>
        </p:txBody>
      </p:sp>
      <p:sp>
        <p:nvSpPr>
          <p:cNvPr id="13" name="Shape 11"/>
          <p:cNvSpPr/>
          <p:nvPr/>
        </p:nvSpPr>
        <p:spPr>
          <a:xfrm>
            <a:off x="8549640" y="3108960"/>
            <a:ext cx="2834640" cy="1051560"/>
          </a:xfrm>
          <a:prstGeom prst="rect">
            <a:avLst/>
          </a:prstGeom>
          <a:solidFill>
            <a:srgbClr val="000000"/>
          </a:solidFill>
          <a:ln w="12700">
            <a:solidFill>
              <a:srgbClr val="000000"/>
            </a:solidFill>
            <a:prstDash val="solid"/>
          </a:ln>
        </p:spPr>
      </p:sp>
      <p:sp>
        <p:nvSpPr>
          <p:cNvPr id="14" name="Text 12"/>
          <p:cNvSpPr txBox="1"/>
          <p:nvPr/>
        </p:nvSpPr>
        <p:spPr>
          <a:xfrm>
            <a:off x="8549640" y="3108960"/>
            <a:ext cx="2834640" cy="1051560"/>
          </a:xfrm>
          <a:prstGeom prst="rect">
            <a:avLst/>
          </a:prstGeom>
          <a:noFill/>
          <a:ln/>
        </p:spPr>
        <p:txBody>
          <a:bodyPr wrap="square" lIns="0" tIns="0" rIns="0" bIns="0" rtlCol="0" anchor="ctr"/>
          <a:lstStyle/>
          <a:p>
            <a:pPr algn="ctr" indent="0" marL="0">
              <a:buNone/>
            </a:pPr>
            <a:r>
              <a:rPr lang="en-US" sz="1600" b="1" dirty="0">
                <a:solidFill>
                  <a:srgbClr val="FFFFFF"/>
                </a:solidFill>
                <a:latin typeface="Times New Roman" pitchFamily="34" charset="0"/>
                <a:ea typeface="Times New Roman" pitchFamily="34" charset="-122"/>
                <a:cs typeface="Times New Roman" pitchFamily="34" charset="-120"/>
              </a:rPr>
              <a:t>Exit success</a:t>
            </a:r>
            <a:endParaRPr lang="en-US" sz="1600" dirty="0"/>
          </a:p>
          <a:p>
            <a:pPr algn="ctr" indent="0" marL="0">
              <a:buNone/>
            </a:pPr>
            <a:r>
              <a:rPr lang="en-US" sz="1600" b="1" dirty="0">
                <a:solidFill>
                  <a:srgbClr val="FFFFFF"/>
                </a:solidFill>
                <a:latin typeface="Times New Roman" pitchFamily="34" charset="0"/>
                <a:ea typeface="Times New Roman" pitchFamily="34" charset="-122"/>
                <a:cs typeface="Times New Roman" pitchFamily="34" charset="-120"/>
              </a:rPr>
              <a:t>(IPO or M&amp;A)</a:t>
            </a:r>
            <a:endParaRPr lang="en-US" sz="1600" dirty="0"/>
          </a:p>
        </p:txBody>
      </p:sp>
      <p:sp>
        <p:nvSpPr>
          <p:cNvPr id="15" name="Shape 13"/>
          <p:cNvSpPr/>
          <p:nvPr/>
        </p:nvSpPr>
        <p:spPr>
          <a:xfrm>
            <a:off x="3474720" y="2446020"/>
            <a:ext cx="5074920" cy="982980"/>
          </a:xfrm>
          <a:prstGeom prst="line">
            <a:avLst/>
          </a:prstGeom>
          <a:noFill/>
          <a:ln w="22225">
            <a:solidFill>
              <a:srgbClr val="000000"/>
            </a:solidFill>
            <a:prstDash val="solid"/>
            <a:tailEnd type="triangle"/>
          </a:ln>
        </p:spPr>
      </p:sp>
      <p:sp>
        <p:nvSpPr>
          <p:cNvPr id="16" name="Shape 14"/>
          <p:cNvSpPr/>
          <p:nvPr/>
        </p:nvSpPr>
        <p:spPr>
          <a:xfrm>
            <a:off x="3474720" y="3634740"/>
            <a:ext cx="5074920" cy="914"/>
          </a:xfrm>
          <a:prstGeom prst="line">
            <a:avLst/>
          </a:prstGeom>
          <a:noFill/>
          <a:ln w="22225">
            <a:solidFill>
              <a:srgbClr val="000000"/>
            </a:solidFill>
            <a:prstDash val="solid"/>
            <a:tailEnd type="triangle"/>
          </a:ln>
        </p:spPr>
      </p:sp>
      <p:sp>
        <p:nvSpPr>
          <p:cNvPr id="17" name="Shape 15"/>
          <p:cNvSpPr/>
          <p:nvPr/>
        </p:nvSpPr>
        <p:spPr>
          <a:xfrm flipV="1">
            <a:off x="3474720" y="3840480"/>
            <a:ext cx="5074920" cy="982980"/>
          </a:xfrm>
          <a:prstGeom prst="line">
            <a:avLst/>
          </a:prstGeom>
          <a:noFill/>
          <a:ln w="22225">
            <a:solidFill>
              <a:srgbClr val="000000"/>
            </a:solidFill>
            <a:prstDash val="solid"/>
            <a:tailEnd type="triangle"/>
          </a:ln>
        </p:spPr>
      </p:sp>
      <p:sp>
        <p:nvSpPr>
          <p:cNvPr id="18" name="Text 16"/>
          <p:cNvSpPr txBox="1"/>
          <p:nvPr/>
        </p:nvSpPr>
        <p:spPr>
          <a:xfrm>
            <a:off x="3657600" y="2176272"/>
            <a:ext cx="1097280" cy="274320"/>
          </a:xfrm>
          <a:prstGeom prst="rect">
            <a:avLst/>
          </a:prstGeom>
          <a:noFill/>
          <a:ln/>
        </p:spPr>
        <p:txBody>
          <a:bodyPr wrap="square" lIns="0" tIns="0" rIns="0" bIns="0" rtlCol="0" anchor="t"/>
          <a:lstStyle/>
          <a:p>
            <a:pPr indent="0" marL="0">
              <a:buNone/>
            </a:pPr>
            <a:r>
              <a:rPr lang="en-US" sz="1200" b="1" dirty="0">
                <a:solidFill>
                  <a:srgbClr val="000000"/>
                </a:solidFill>
                <a:latin typeface="Times New Roman" pitchFamily="34" charset="0"/>
                <a:ea typeface="Times New Roman" pitchFamily="34" charset="-122"/>
                <a:cs typeface="Times New Roman" pitchFamily="34" charset="-120"/>
              </a:rPr>
              <a:t>H1a (−)</a:t>
            </a:r>
            <a:endParaRPr lang="en-US" sz="1200" dirty="0"/>
          </a:p>
        </p:txBody>
      </p:sp>
      <p:sp>
        <p:nvSpPr>
          <p:cNvPr id="19" name="Text 17"/>
          <p:cNvSpPr txBox="1"/>
          <p:nvPr/>
        </p:nvSpPr>
        <p:spPr>
          <a:xfrm>
            <a:off x="3657600" y="3355848"/>
            <a:ext cx="1097280" cy="274320"/>
          </a:xfrm>
          <a:prstGeom prst="rect">
            <a:avLst/>
          </a:prstGeom>
          <a:noFill/>
          <a:ln/>
        </p:spPr>
        <p:txBody>
          <a:bodyPr wrap="square" lIns="0" tIns="0" rIns="0" bIns="0" rtlCol="0" anchor="t"/>
          <a:lstStyle/>
          <a:p>
            <a:pPr indent="0" marL="0">
              <a:buNone/>
            </a:pPr>
            <a:r>
              <a:rPr lang="en-US" sz="1200" b="1" dirty="0">
                <a:solidFill>
                  <a:srgbClr val="000000"/>
                </a:solidFill>
                <a:latin typeface="Times New Roman" pitchFamily="34" charset="0"/>
                <a:ea typeface="Times New Roman" pitchFamily="34" charset="-122"/>
                <a:cs typeface="Times New Roman" pitchFamily="34" charset="-120"/>
              </a:rPr>
              <a:t>H1b (−)</a:t>
            </a:r>
            <a:endParaRPr lang="en-US" sz="1200" dirty="0"/>
          </a:p>
        </p:txBody>
      </p:sp>
      <p:sp>
        <p:nvSpPr>
          <p:cNvPr id="20" name="Text 18"/>
          <p:cNvSpPr txBox="1"/>
          <p:nvPr/>
        </p:nvSpPr>
        <p:spPr>
          <a:xfrm>
            <a:off x="3657600" y="4864608"/>
            <a:ext cx="1097280" cy="274320"/>
          </a:xfrm>
          <a:prstGeom prst="rect">
            <a:avLst/>
          </a:prstGeom>
          <a:noFill/>
          <a:ln/>
        </p:spPr>
        <p:txBody>
          <a:bodyPr wrap="square" lIns="0" tIns="0" rIns="0" bIns="0" rtlCol="0" anchor="t"/>
          <a:lstStyle/>
          <a:p>
            <a:pPr indent="0" marL="0">
              <a:buNone/>
            </a:pPr>
            <a:r>
              <a:rPr lang="en-US" sz="1200" b="1" dirty="0">
                <a:solidFill>
                  <a:srgbClr val="000000"/>
                </a:solidFill>
                <a:latin typeface="Times New Roman" pitchFamily="34" charset="0"/>
                <a:ea typeface="Times New Roman" pitchFamily="34" charset="-122"/>
                <a:cs typeface="Times New Roman" pitchFamily="34" charset="-120"/>
              </a:rPr>
              <a:t>H1c (−)</a:t>
            </a:r>
            <a:endParaRPr lang="en-US" sz="1200" dirty="0"/>
          </a:p>
        </p:txBody>
      </p:sp>
      <p:sp>
        <p:nvSpPr>
          <p:cNvPr id="21" name="Shape 19"/>
          <p:cNvSpPr/>
          <p:nvPr/>
        </p:nvSpPr>
        <p:spPr>
          <a:xfrm>
            <a:off x="4617720" y="1234440"/>
            <a:ext cx="3291840" cy="548640"/>
          </a:xfrm>
          <a:prstGeom prst="rect">
            <a:avLst/>
          </a:prstGeom>
          <a:solidFill>
            <a:srgbClr val="000000"/>
          </a:solidFill>
          <a:ln w="12700">
            <a:solidFill>
              <a:srgbClr val="000000"/>
            </a:solidFill>
            <a:prstDash val="solid"/>
          </a:ln>
        </p:spPr>
      </p:sp>
      <p:sp>
        <p:nvSpPr>
          <p:cNvPr id="22" name="Text 20"/>
          <p:cNvSpPr txBox="1"/>
          <p:nvPr/>
        </p:nvSpPr>
        <p:spPr>
          <a:xfrm>
            <a:off x="4617720" y="1234440"/>
            <a:ext cx="32918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BUILD: industry specialization of lead VC</a:t>
            </a:r>
            <a:endParaRPr lang="en-US" sz="1300" dirty="0"/>
          </a:p>
        </p:txBody>
      </p:sp>
      <p:sp>
        <p:nvSpPr>
          <p:cNvPr id="23" name="Shape 21"/>
          <p:cNvSpPr/>
          <p:nvPr/>
        </p:nvSpPr>
        <p:spPr>
          <a:xfrm>
            <a:off x="6263640" y="1783080"/>
            <a:ext cx="0" cy="1203136"/>
          </a:xfrm>
          <a:prstGeom prst="line">
            <a:avLst/>
          </a:prstGeom>
          <a:noFill/>
          <a:ln w="25400">
            <a:solidFill>
              <a:srgbClr val="2E7D5B"/>
            </a:solidFill>
            <a:prstDash val="dash"/>
            <a:tailEnd type="triangle"/>
          </a:ln>
        </p:spPr>
      </p:sp>
      <p:sp>
        <p:nvSpPr>
          <p:cNvPr id="24" name="Text 22"/>
          <p:cNvSpPr txBox="1"/>
          <p:nvPr/>
        </p:nvSpPr>
        <p:spPr>
          <a:xfrm>
            <a:off x="6355080" y="2057400"/>
            <a:ext cx="822960" cy="274320"/>
          </a:xfrm>
          <a:prstGeom prst="rect">
            <a:avLst/>
          </a:prstGeom>
          <a:noFill/>
          <a:ln/>
        </p:spPr>
        <p:txBody>
          <a:bodyPr wrap="square" lIns="0" tIns="0" rIns="0" bIns="0" rtlCol="0" anchor="t"/>
          <a:lstStyle/>
          <a:p>
            <a:pPr indent="0" marL="0">
              <a:buNone/>
            </a:pPr>
            <a:r>
              <a:rPr lang="en-US" sz="1200" b="1" dirty="0">
                <a:solidFill>
                  <a:srgbClr val="2E7D5B"/>
                </a:solidFill>
                <a:latin typeface="Times New Roman" pitchFamily="34" charset="0"/>
                <a:ea typeface="Times New Roman" pitchFamily="34" charset="-122"/>
                <a:cs typeface="Times New Roman" pitchFamily="34" charset="-120"/>
              </a:rPr>
              <a:t>H2 (−)</a:t>
            </a:r>
            <a:endParaRPr lang="en-US" sz="1200" dirty="0"/>
          </a:p>
        </p:txBody>
      </p:sp>
      <p:sp>
        <p:nvSpPr>
          <p:cNvPr id="25" name="Shape 23"/>
          <p:cNvSpPr/>
          <p:nvPr/>
        </p:nvSpPr>
        <p:spPr>
          <a:xfrm>
            <a:off x="4617720" y="5623560"/>
            <a:ext cx="3291840" cy="548640"/>
          </a:xfrm>
          <a:prstGeom prst="rect">
            <a:avLst/>
          </a:prstGeom>
          <a:solidFill>
            <a:srgbClr val="000000"/>
          </a:solidFill>
          <a:ln w="12700">
            <a:solidFill>
              <a:srgbClr val="000000"/>
            </a:solidFill>
            <a:prstDash val="solid"/>
          </a:ln>
        </p:spPr>
      </p:sp>
      <p:sp>
        <p:nvSpPr>
          <p:cNvPr id="26" name="Text 24"/>
          <p:cNvSpPr txBox="1"/>
          <p:nvPr/>
        </p:nvSpPr>
        <p:spPr>
          <a:xfrm>
            <a:off x="4617720" y="5623560"/>
            <a:ext cx="32918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BORROW: local co-investor in syndicate</a:t>
            </a:r>
            <a:endParaRPr lang="en-US" sz="1300" dirty="0"/>
          </a:p>
        </p:txBody>
      </p:sp>
      <p:sp>
        <p:nvSpPr>
          <p:cNvPr id="27" name="Shape 25"/>
          <p:cNvSpPr/>
          <p:nvPr/>
        </p:nvSpPr>
        <p:spPr>
          <a:xfrm flipV="1">
            <a:off x="5486400" y="3634740"/>
            <a:ext cx="0" cy="1988820"/>
          </a:xfrm>
          <a:prstGeom prst="line">
            <a:avLst/>
          </a:prstGeom>
          <a:noFill/>
          <a:ln w="25400">
            <a:solidFill>
              <a:srgbClr val="B23A48"/>
            </a:solidFill>
            <a:prstDash val="dash"/>
            <a:tailEnd type="triangle"/>
          </a:ln>
        </p:spPr>
      </p:sp>
      <p:sp>
        <p:nvSpPr>
          <p:cNvPr id="28" name="Shape 26"/>
          <p:cNvSpPr/>
          <p:nvPr/>
        </p:nvSpPr>
        <p:spPr>
          <a:xfrm flipV="1">
            <a:off x="7040880" y="4132717"/>
            <a:ext cx="0" cy="1490843"/>
          </a:xfrm>
          <a:prstGeom prst="line">
            <a:avLst/>
          </a:prstGeom>
          <a:noFill/>
          <a:ln w="25400">
            <a:solidFill>
              <a:srgbClr val="B23A48"/>
            </a:solidFill>
            <a:prstDash val="dash"/>
            <a:tailEnd type="triangle"/>
          </a:ln>
        </p:spPr>
      </p:sp>
      <p:sp>
        <p:nvSpPr>
          <p:cNvPr id="29" name="Text 27"/>
          <p:cNvSpPr txBox="1"/>
          <p:nvPr/>
        </p:nvSpPr>
        <p:spPr>
          <a:xfrm>
            <a:off x="4617720" y="5120640"/>
            <a:ext cx="822960" cy="274320"/>
          </a:xfrm>
          <a:prstGeom prst="rect">
            <a:avLst/>
          </a:prstGeom>
          <a:noFill/>
          <a:ln/>
        </p:spPr>
        <p:txBody>
          <a:bodyPr wrap="square" lIns="0" tIns="0" rIns="0" bIns="0" rtlCol="0" anchor="t"/>
          <a:lstStyle/>
          <a:p>
            <a:pPr algn="r" indent="0" marL="0">
              <a:buNone/>
            </a:pPr>
            <a:r>
              <a:rPr lang="en-US" sz="1200" b="1" dirty="0">
                <a:solidFill>
                  <a:srgbClr val="B23A48"/>
                </a:solidFill>
                <a:latin typeface="Times New Roman" pitchFamily="34" charset="0"/>
                <a:ea typeface="Times New Roman" pitchFamily="34" charset="-122"/>
                <a:cs typeface="Times New Roman" pitchFamily="34" charset="-120"/>
              </a:rPr>
              <a:t>H3a (−)</a:t>
            </a:r>
            <a:endParaRPr lang="en-US" sz="1200" dirty="0"/>
          </a:p>
        </p:txBody>
      </p:sp>
      <p:sp>
        <p:nvSpPr>
          <p:cNvPr id="30" name="Text 28"/>
          <p:cNvSpPr txBox="1"/>
          <p:nvPr/>
        </p:nvSpPr>
        <p:spPr>
          <a:xfrm>
            <a:off x="7132320" y="5120640"/>
            <a:ext cx="822960" cy="274320"/>
          </a:xfrm>
          <a:prstGeom prst="rect">
            <a:avLst/>
          </a:prstGeom>
          <a:noFill/>
          <a:ln/>
        </p:spPr>
        <p:txBody>
          <a:bodyPr wrap="square" lIns="0" tIns="0" rIns="0" bIns="0" rtlCol="0" anchor="t"/>
          <a:lstStyle/>
          <a:p>
            <a:pPr indent="0" marL="0">
              <a:buNone/>
            </a:pPr>
            <a:r>
              <a:rPr lang="en-US" sz="1200" b="1" dirty="0">
                <a:solidFill>
                  <a:srgbClr val="B23A48"/>
                </a:solidFill>
                <a:latin typeface="Times New Roman" pitchFamily="34" charset="0"/>
                <a:ea typeface="Times New Roman" pitchFamily="34" charset="-122"/>
                <a:cs typeface="Times New Roman" pitchFamily="34" charset="-120"/>
              </a:rPr>
              <a:t>H3b (−)</a:t>
            </a:r>
            <a:endParaRPr lang="en-US" sz="1200" dirty="0"/>
          </a:p>
        </p:txBody>
      </p:sp>
      <p:sp>
        <p:nvSpPr>
          <p:cNvPr id="31" name="Shape 29"/>
          <p:cNvSpPr/>
          <p:nvPr/>
        </p:nvSpPr>
        <p:spPr>
          <a:xfrm>
            <a:off x="8549640" y="4434840"/>
            <a:ext cx="3200400" cy="1737360"/>
          </a:xfrm>
          <a:prstGeom prst="rect">
            <a:avLst/>
          </a:prstGeom>
          <a:solidFill>
            <a:srgbClr val="F4F6FB"/>
          </a:solidFill>
          <a:ln w="12700">
            <a:solidFill>
              <a:srgbClr val="F4F6FB"/>
            </a:solidFill>
            <a:prstDash val="solid"/>
          </a:ln>
        </p:spPr>
      </p:sp>
      <p:sp>
        <p:nvSpPr>
          <p:cNvPr id="32" name="Text 30"/>
          <p:cNvSpPr txBox="1"/>
          <p:nvPr/>
        </p:nvSpPr>
        <p:spPr>
          <a:xfrm>
            <a:off x="8686800" y="4498848"/>
            <a:ext cx="2926080" cy="274320"/>
          </a:xfrm>
          <a:prstGeom prst="rect">
            <a:avLst/>
          </a:prstGeom>
          <a:noFill/>
          <a:ln/>
        </p:spPr>
        <p:txBody>
          <a:bodyPr wrap="square" lIns="0" tIns="0" rIns="0" bIns="0" rtlCol="0" anchor="t"/>
          <a:lstStyle/>
          <a:p>
            <a:pPr indent="0" marL="0">
              <a:buNone/>
            </a:pPr>
            <a:r>
              <a:rPr lang="en-US" sz="1200" b="1" dirty="0">
                <a:solidFill>
                  <a:srgbClr val="000000"/>
                </a:solidFill>
                <a:latin typeface="Times New Roman" pitchFamily="34" charset="0"/>
                <a:ea typeface="Times New Roman" pitchFamily="34" charset="-122"/>
                <a:cs typeface="Times New Roman" pitchFamily="34" charset="-120"/>
              </a:rPr>
              <a:t>Controls</a:t>
            </a:r>
            <a:endParaRPr lang="en-US" sz="1200" dirty="0"/>
          </a:p>
        </p:txBody>
      </p:sp>
      <p:sp>
        <p:nvSpPr>
          <p:cNvPr id="33" name="Text 31"/>
          <p:cNvSpPr txBox="1"/>
          <p:nvPr/>
        </p:nvSpPr>
        <p:spPr>
          <a:xfrm>
            <a:off x="8686800" y="4773168"/>
            <a:ext cx="2926080" cy="1353312"/>
          </a:xfrm>
          <a:prstGeom prst="rect">
            <a:avLst/>
          </a:prstGeom>
          <a:noFill/>
          <a:ln/>
        </p:spPr>
        <p:txBody>
          <a:bodyPr wrap="square" lIns="0" tIns="0" rIns="0" bIns="0" rtlCol="0" anchor="t"/>
          <a:lstStyle/>
          <a:p>
            <a:pPr indent="0" marL="0">
              <a:buNone/>
            </a:pPr>
            <a:r>
              <a:rPr lang="en-US" sz="950" dirty="0">
                <a:solidFill>
                  <a:srgbClr val="1B1B2F"/>
                </a:solidFill>
                <a:latin typeface="Times New Roman" pitchFamily="34" charset="0"/>
                <a:ea typeface="Times New Roman" pitchFamily="34" charset="-122"/>
                <a:cs typeface="Times New Roman" pitchFamily="34" charset="-120"/>
              </a:rPr>
              <a:t>International experience (+ × distance), VC reputation, investor type, local branch, syndicate size, stage, round size, prior ties, venture age, host market and exit conditions, host institutional quality, common language; year, industry, country FE</a:t>
            </a:r>
            <a:endParaRPr lang="en-US" sz="950" dirty="0"/>
          </a:p>
        </p:txBody>
      </p:sp>
      <p:sp>
        <p:nvSpPr>
          <p:cNvPr id="34" name="Text 32"/>
          <p:cNvSpPr txBox="1"/>
          <p:nvPr/>
        </p:nvSpPr>
        <p:spPr>
          <a:xfrm>
            <a:off x="8549640" y="2194560"/>
            <a:ext cx="3200400" cy="457200"/>
          </a:xfrm>
          <a:prstGeom prst="rect">
            <a:avLst/>
          </a:prstGeom>
          <a:noFill/>
          <a:ln/>
        </p:spPr>
        <p:txBody>
          <a:bodyPr wrap="square" lIns="0" tIns="0" rIns="0" bIns="0" rtlCol="0" anchor="t"/>
          <a:lstStyle/>
          <a:p>
            <a:pPr indent="0" marL="0">
              <a:buNone/>
            </a:pPr>
            <a:r>
              <a:rPr lang="en-US" sz="1100" i="1" dirty="0">
                <a:solidFill>
                  <a:srgbClr val="5A5F73"/>
                </a:solidFill>
                <a:latin typeface="Times New Roman" pitchFamily="34" charset="0"/>
                <a:ea typeface="Times New Roman" pitchFamily="34" charset="-122"/>
                <a:cs typeface="Times New Roman" pitchFamily="34" charset="-120"/>
              </a:rPr>
              <a:t>(−) on a moderator = weakens the negative distance effect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57200"/>
            <a:ext cx="11247120" cy="594360"/>
          </a:xfrm>
          <a:prstGeom prst="rect">
            <a:avLst/>
          </a:prstGeom>
          <a:noFill/>
          <a:ln/>
        </p:spPr>
        <p:txBody>
          <a:bodyPr wrap="square" lIns="0" tIns="0" rIns="0" bIns="0" rtlCol="0" anchor="ctr"/>
          <a:lstStyle/>
          <a:p>
            <a:pPr indent="0" marL="0">
              <a:buNone/>
            </a:pPr>
            <a:r>
              <a:rPr lang="en-US" sz="2400" b="1" dirty="0">
                <a:solidFill>
                  <a:srgbClr val="000000"/>
                </a:solidFill>
                <a:latin typeface="Times New Roman" pitchFamily="34" charset="0"/>
                <a:ea typeface="Times New Roman" pitchFamily="34" charset="-122"/>
                <a:cs typeface="Times New Roman" pitchFamily="34" charset="-120"/>
              </a:rPr>
              <a:t>Hypotheses: each remedy is matched to a specific distance</a:t>
            </a:r>
            <a:endParaRPr lang="en-US" sz="2400" dirty="0"/>
          </a:p>
        </p:txBody>
      </p:sp>
      <p:sp>
        <p:nvSpPr>
          <p:cNvPr id="3" name="Text 1"/>
          <p:cNvSpPr txBox="1"/>
          <p:nvPr/>
        </p:nvSpPr>
        <p:spPr>
          <a:xfrm>
            <a:off x="11247120" y="6492240"/>
            <a:ext cx="685800" cy="228600"/>
          </a:xfrm>
          <a:prstGeom prst="rect">
            <a:avLst/>
          </a:prstGeom>
          <a:noFill/>
          <a:ln/>
        </p:spPr>
        <p:txBody>
          <a:bodyPr wrap="square" lIns="0" tIns="0" rIns="0" bIns="0" rtlCol="0" anchor="ctr"/>
          <a:lstStyle/>
          <a:p>
            <a:pPr algn="r" indent="0" marL="0">
              <a:buNone/>
            </a:pPr>
            <a:r>
              <a:rPr lang="en-US" sz="900" dirty="0">
                <a:solidFill>
                  <a:srgbClr val="5A5F73"/>
                </a:solidFill>
                <a:latin typeface="Times New Roman" pitchFamily="34" charset="0"/>
                <a:ea typeface="Times New Roman" pitchFamily="34" charset="-122"/>
                <a:cs typeface="Times New Roman" pitchFamily="34" charset="-120"/>
              </a:rPr>
              <a:t>8 / 11</a:t>
            </a:r>
            <a:endParaRPr lang="en-US" sz="900" dirty="0"/>
          </a:p>
        </p:txBody>
      </p:sp>
      <p:sp>
        <p:nvSpPr>
          <p:cNvPr id="4" name="Shape 2"/>
          <p:cNvSpPr/>
          <p:nvPr/>
        </p:nvSpPr>
        <p:spPr>
          <a:xfrm>
            <a:off x="3063240" y="1325880"/>
            <a:ext cx="1874520" cy="457200"/>
          </a:xfrm>
          <a:prstGeom prst="rect">
            <a:avLst/>
          </a:prstGeom>
          <a:solidFill>
            <a:srgbClr val="000000"/>
          </a:solidFill>
          <a:ln w="12700">
            <a:solidFill>
              <a:srgbClr val="000000"/>
            </a:solidFill>
            <a:prstDash val="solid"/>
          </a:ln>
        </p:spPr>
      </p:sp>
      <p:sp>
        <p:nvSpPr>
          <p:cNvPr id="5" name="Text 3"/>
          <p:cNvSpPr txBox="1"/>
          <p:nvPr/>
        </p:nvSpPr>
        <p:spPr>
          <a:xfrm>
            <a:off x="3063240" y="1325880"/>
            <a:ext cx="18745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Institutional</a:t>
            </a:r>
            <a:endParaRPr lang="en-US" sz="1400" dirty="0"/>
          </a:p>
        </p:txBody>
      </p:sp>
      <p:sp>
        <p:nvSpPr>
          <p:cNvPr id="6" name="Shape 4"/>
          <p:cNvSpPr/>
          <p:nvPr/>
        </p:nvSpPr>
        <p:spPr>
          <a:xfrm>
            <a:off x="5029200" y="1325880"/>
            <a:ext cx="1874520" cy="457200"/>
          </a:xfrm>
          <a:prstGeom prst="rect">
            <a:avLst/>
          </a:prstGeom>
          <a:solidFill>
            <a:srgbClr val="000000"/>
          </a:solidFill>
          <a:ln w="12700">
            <a:solidFill>
              <a:srgbClr val="000000"/>
            </a:solidFill>
            <a:prstDash val="solid"/>
          </a:ln>
        </p:spPr>
      </p:sp>
      <p:sp>
        <p:nvSpPr>
          <p:cNvPr id="7" name="Text 5"/>
          <p:cNvSpPr txBox="1"/>
          <p:nvPr/>
        </p:nvSpPr>
        <p:spPr>
          <a:xfrm>
            <a:off x="5029200" y="1325880"/>
            <a:ext cx="18745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Cultural</a:t>
            </a:r>
            <a:endParaRPr lang="en-US" sz="1400" dirty="0"/>
          </a:p>
        </p:txBody>
      </p:sp>
      <p:sp>
        <p:nvSpPr>
          <p:cNvPr id="8" name="Shape 6"/>
          <p:cNvSpPr/>
          <p:nvPr/>
        </p:nvSpPr>
        <p:spPr>
          <a:xfrm>
            <a:off x="6995160" y="1325880"/>
            <a:ext cx="1874520" cy="457200"/>
          </a:xfrm>
          <a:prstGeom prst="rect">
            <a:avLst/>
          </a:prstGeom>
          <a:solidFill>
            <a:srgbClr val="000000"/>
          </a:solidFill>
          <a:ln w="12700">
            <a:solidFill>
              <a:srgbClr val="000000"/>
            </a:solidFill>
            <a:prstDash val="solid"/>
          </a:ln>
        </p:spPr>
      </p:sp>
      <p:sp>
        <p:nvSpPr>
          <p:cNvPr id="9" name="Text 7"/>
          <p:cNvSpPr txBox="1"/>
          <p:nvPr/>
        </p:nvSpPr>
        <p:spPr>
          <a:xfrm>
            <a:off x="6995160" y="1325880"/>
            <a:ext cx="18745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Geographic</a:t>
            </a:r>
            <a:endParaRPr lang="en-US" sz="1400" dirty="0"/>
          </a:p>
        </p:txBody>
      </p:sp>
      <p:sp>
        <p:nvSpPr>
          <p:cNvPr id="10" name="Shape 8"/>
          <p:cNvSpPr/>
          <p:nvPr/>
        </p:nvSpPr>
        <p:spPr>
          <a:xfrm>
            <a:off x="457200" y="1874520"/>
            <a:ext cx="2514600" cy="658368"/>
          </a:xfrm>
          <a:prstGeom prst="rect">
            <a:avLst/>
          </a:prstGeom>
          <a:solidFill>
            <a:srgbClr val="000000"/>
          </a:solidFill>
          <a:ln w="12700">
            <a:solidFill>
              <a:srgbClr val="000000"/>
            </a:solidFill>
            <a:prstDash val="solid"/>
          </a:ln>
        </p:spPr>
      </p:sp>
      <p:sp>
        <p:nvSpPr>
          <p:cNvPr id="11" name="Text 9"/>
          <p:cNvSpPr txBox="1"/>
          <p:nvPr/>
        </p:nvSpPr>
        <p:spPr>
          <a:xfrm>
            <a:off x="457200" y="1874520"/>
            <a:ext cx="2514600" cy="658368"/>
          </a:xfrm>
          <a:prstGeom prst="rect">
            <a:avLst/>
          </a:prstGeom>
          <a:noFill/>
          <a:ln/>
        </p:spPr>
        <p:txBody>
          <a:bodyPr wrap="square" lIns="0" tIns="0" rIns="0" bIns="0"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Direct effect of distance</a:t>
            </a:r>
            <a:endParaRPr lang="en-US" sz="1200" dirty="0"/>
          </a:p>
        </p:txBody>
      </p:sp>
      <p:sp>
        <p:nvSpPr>
          <p:cNvPr id="12" name="Shape 10"/>
          <p:cNvSpPr/>
          <p:nvPr/>
        </p:nvSpPr>
        <p:spPr>
          <a:xfrm>
            <a:off x="3063240" y="1874520"/>
            <a:ext cx="1874520" cy="658368"/>
          </a:xfrm>
          <a:prstGeom prst="rect">
            <a:avLst/>
          </a:prstGeom>
          <a:solidFill>
            <a:srgbClr val="E7E6E6"/>
          </a:solidFill>
          <a:ln w="12700">
            <a:solidFill>
              <a:srgbClr val="E7E6E6"/>
            </a:solidFill>
            <a:prstDash val="solid"/>
          </a:ln>
        </p:spPr>
      </p:sp>
      <p:sp>
        <p:nvSpPr>
          <p:cNvPr id="13" name="Text 11"/>
          <p:cNvSpPr txBox="1"/>
          <p:nvPr/>
        </p:nvSpPr>
        <p:spPr>
          <a:xfrm>
            <a:off x="3063240" y="1874520"/>
            <a:ext cx="1874520" cy="658368"/>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H1a (−)</a:t>
            </a:r>
            <a:endParaRPr lang="en-US" sz="1400" dirty="0"/>
          </a:p>
        </p:txBody>
      </p:sp>
      <p:sp>
        <p:nvSpPr>
          <p:cNvPr id="14" name="Shape 12"/>
          <p:cNvSpPr/>
          <p:nvPr/>
        </p:nvSpPr>
        <p:spPr>
          <a:xfrm>
            <a:off x="5029200" y="1874520"/>
            <a:ext cx="1874520" cy="658368"/>
          </a:xfrm>
          <a:prstGeom prst="rect">
            <a:avLst/>
          </a:prstGeom>
          <a:solidFill>
            <a:srgbClr val="E7E6E6"/>
          </a:solidFill>
          <a:ln w="12700">
            <a:solidFill>
              <a:srgbClr val="E7E6E6"/>
            </a:solidFill>
            <a:prstDash val="solid"/>
          </a:ln>
        </p:spPr>
      </p:sp>
      <p:sp>
        <p:nvSpPr>
          <p:cNvPr id="15" name="Text 13"/>
          <p:cNvSpPr txBox="1"/>
          <p:nvPr/>
        </p:nvSpPr>
        <p:spPr>
          <a:xfrm>
            <a:off x="5029200" y="1874520"/>
            <a:ext cx="1874520" cy="658368"/>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H1b (−)</a:t>
            </a:r>
            <a:endParaRPr lang="en-US" sz="1400" dirty="0"/>
          </a:p>
        </p:txBody>
      </p:sp>
      <p:sp>
        <p:nvSpPr>
          <p:cNvPr id="16" name="Shape 14"/>
          <p:cNvSpPr/>
          <p:nvPr/>
        </p:nvSpPr>
        <p:spPr>
          <a:xfrm>
            <a:off x="6995160" y="1874520"/>
            <a:ext cx="1874520" cy="658368"/>
          </a:xfrm>
          <a:prstGeom prst="rect">
            <a:avLst/>
          </a:prstGeom>
          <a:solidFill>
            <a:srgbClr val="E7E6E6"/>
          </a:solidFill>
          <a:ln w="12700">
            <a:solidFill>
              <a:srgbClr val="E7E6E6"/>
            </a:solidFill>
            <a:prstDash val="solid"/>
          </a:ln>
        </p:spPr>
      </p:sp>
      <p:sp>
        <p:nvSpPr>
          <p:cNvPr id="17" name="Text 15"/>
          <p:cNvSpPr txBox="1"/>
          <p:nvPr/>
        </p:nvSpPr>
        <p:spPr>
          <a:xfrm>
            <a:off x="6995160" y="1874520"/>
            <a:ext cx="1874520" cy="658368"/>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H1c (−)</a:t>
            </a:r>
            <a:endParaRPr lang="en-US" sz="1400" dirty="0"/>
          </a:p>
        </p:txBody>
      </p:sp>
      <p:sp>
        <p:nvSpPr>
          <p:cNvPr id="18" name="Shape 16"/>
          <p:cNvSpPr/>
          <p:nvPr/>
        </p:nvSpPr>
        <p:spPr>
          <a:xfrm>
            <a:off x="457200" y="2624328"/>
            <a:ext cx="2514600" cy="658368"/>
          </a:xfrm>
          <a:prstGeom prst="rect">
            <a:avLst/>
          </a:prstGeom>
          <a:solidFill>
            <a:srgbClr val="000000"/>
          </a:solidFill>
          <a:ln w="12700">
            <a:solidFill>
              <a:srgbClr val="000000"/>
            </a:solidFill>
            <a:prstDash val="solid"/>
          </a:ln>
        </p:spPr>
      </p:sp>
      <p:sp>
        <p:nvSpPr>
          <p:cNvPr id="19" name="Text 17"/>
          <p:cNvSpPr txBox="1"/>
          <p:nvPr/>
        </p:nvSpPr>
        <p:spPr>
          <a:xfrm>
            <a:off x="457200" y="2624328"/>
            <a:ext cx="2514600" cy="658368"/>
          </a:xfrm>
          <a:prstGeom prst="rect">
            <a:avLst/>
          </a:prstGeom>
          <a:noFill/>
          <a:ln/>
        </p:spPr>
        <p:txBody>
          <a:bodyPr wrap="square" lIns="0" tIns="0" rIns="0" bIns="0"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BUILD: industry specialization</a:t>
            </a:r>
            <a:endParaRPr lang="en-US" sz="1200" dirty="0"/>
          </a:p>
        </p:txBody>
      </p:sp>
      <p:sp>
        <p:nvSpPr>
          <p:cNvPr id="20" name="Shape 18"/>
          <p:cNvSpPr/>
          <p:nvPr/>
        </p:nvSpPr>
        <p:spPr>
          <a:xfrm>
            <a:off x="3063240" y="2624328"/>
            <a:ext cx="1874520" cy="658368"/>
          </a:xfrm>
          <a:prstGeom prst="rect">
            <a:avLst/>
          </a:prstGeom>
          <a:solidFill>
            <a:srgbClr val="E7E6E6"/>
          </a:solidFill>
          <a:ln w="12700">
            <a:solidFill>
              <a:srgbClr val="E7E6E6"/>
            </a:solidFill>
            <a:prstDash val="solid"/>
          </a:ln>
        </p:spPr>
      </p:sp>
      <p:sp>
        <p:nvSpPr>
          <p:cNvPr id="21" name="Text 19"/>
          <p:cNvSpPr txBox="1"/>
          <p:nvPr/>
        </p:nvSpPr>
        <p:spPr>
          <a:xfrm>
            <a:off x="3063240" y="2624328"/>
            <a:ext cx="1874520" cy="658368"/>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H2: weakens</a:t>
            </a:r>
            <a:endParaRPr lang="en-US" sz="1400" dirty="0"/>
          </a:p>
        </p:txBody>
      </p:sp>
      <p:sp>
        <p:nvSpPr>
          <p:cNvPr id="22" name="Shape 20"/>
          <p:cNvSpPr/>
          <p:nvPr/>
        </p:nvSpPr>
        <p:spPr>
          <a:xfrm>
            <a:off x="5029200" y="2624328"/>
            <a:ext cx="1874520" cy="658368"/>
          </a:xfrm>
          <a:prstGeom prst="rect">
            <a:avLst/>
          </a:prstGeom>
          <a:solidFill>
            <a:srgbClr val="F4F6FB"/>
          </a:solidFill>
          <a:ln w="12700">
            <a:solidFill>
              <a:srgbClr val="F4F6FB"/>
            </a:solidFill>
            <a:prstDash val="solid"/>
          </a:ln>
        </p:spPr>
      </p:sp>
      <p:sp>
        <p:nvSpPr>
          <p:cNvPr id="23" name="Text 21"/>
          <p:cNvSpPr txBox="1"/>
          <p:nvPr/>
        </p:nvSpPr>
        <p:spPr>
          <a:xfrm>
            <a:off x="5029200" y="2624328"/>
            <a:ext cx="1874520" cy="658368"/>
          </a:xfrm>
          <a:prstGeom prst="rect">
            <a:avLst/>
          </a:prstGeom>
          <a:noFill/>
          <a:ln/>
        </p:spPr>
        <p:txBody>
          <a:bodyPr wrap="square" lIns="0" tIns="0" rIns="0" bIns="0" rtlCol="0" anchor="ctr"/>
          <a:lstStyle/>
          <a:p>
            <a:pPr algn="ctr" indent="0" marL="0">
              <a:buNone/>
            </a:pPr>
            <a:r>
              <a:rPr lang="en-US" sz="1200" i="1" dirty="0">
                <a:solidFill>
                  <a:srgbClr val="5A5F73"/>
                </a:solidFill>
                <a:latin typeface="Times New Roman" pitchFamily="34" charset="0"/>
                <a:ea typeface="Times New Roman" pitchFamily="34" charset="-122"/>
                <a:cs typeface="Times New Roman" pitchFamily="34" charset="-120"/>
              </a:rPr>
              <a:t>check</a:t>
            </a:r>
            <a:endParaRPr lang="en-US" sz="1200" dirty="0"/>
          </a:p>
        </p:txBody>
      </p:sp>
      <p:sp>
        <p:nvSpPr>
          <p:cNvPr id="24" name="Shape 22"/>
          <p:cNvSpPr/>
          <p:nvPr/>
        </p:nvSpPr>
        <p:spPr>
          <a:xfrm>
            <a:off x="6995160" y="2624328"/>
            <a:ext cx="1874520" cy="658368"/>
          </a:xfrm>
          <a:prstGeom prst="rect">
            <a:avLst/>
          </a:prstGeom>
          <a:solidFill>
            <a:srgbClr val="F4F6FB"/>
          </a:solidFill>
          <a:ln w="12700">
            <a:solidFill>
              <a:srgbClr val="F4F6FB"/>
            </a:solidFill>
            <a:prstDash val="solid"/>
          </a:ln>
        </p:spPr>
      </p:sp>
      <p:sp>
        <p:nvSpPr>
          <p:cNvPr id="25" name="Text 23"/>
          <p:cNvSpPr txBox="1"/>
          <p:nvPr/>
        </p:nvSpPr>
        <p:spPr>
          <a:xfrm>
            <a:off x="6995160" y="2624328"/>
            <a:ext cx="1874520" cy="658368"/>
          </a:xfrm>
          <a:prstGeom prst="rect">
            <a:avLst/>
          </a:prstGeom>
          <a:noFill/>
          <a:ln/>
        </p:spPr>
        <p:txBody>
          <a:bodyPr wrap="square" lIns="0" tIns="0" rIns="0" bIns="0" rtlCol="0" anchor="ctr"/>
          <a:lstStyle/>
          <a:p>
            <a:pPr algn="ctr" indent="0" marL="0">
              <a:buNone/>
            </a:pPr>
            <a:r>
              <a:rPr lang="en-US" sz="1200" i="1" dirty="0">
                <a:solidFill>
                  <a:srgbClr val="5A5F73"/>
                </a:solidFill>
                <a:latin typeface="Times New Roman" pitchFamily="34" charset="0"/>
                <a:ea typeface="Times New Roman" pitchFamily="34" charset="-122"/>
                <a:cs typeface="Times New Roman" pitchFamily="34" charset="-120"/>
              </a:rPr>
              <a:t>check</a:t>
            </a:r>
            <a:endParaRPr lang="en-US" sz="1200" dirty="0"/>
          </a:p>
        </p:txBody>
      </p:sp>
      <p:sp>
        <p:nvSpPr>
          <p:cNvPr id="26" name="Shape 24"/>
          <p:cNvSpPr/>
          <p:nvPr/>
        </p:nvSpPr>
        <p:spPr>
          <a:xfrm>
            <a:off x="457200" y="3374136"/>
            <a:ext cx="2514600" cy="658368"/>
          </a:xfrm>
          <a:prstGeom prst="rect">
            <a:avLst/>
          </a:prstGeom>
          <a:solidFill>
            <a:srgbClr val="000000"/>
          </a:solidFill>
          <a:ln w="12700">
            <a:solidFill>
              <a:srgbClr val="000000"/>
            </a:solidFill>
            <a:prstDash val="solid"/>
          </a:ln>
        </p:spPr>
      </p:sp>
      <p:sp>
        <p:nvSpPr>
          <p:cNvPr id="27" name="Text 25"/>
          <p:cNvSpPr txBox="1"/>
          <p:nvPr/>
        </p:nvSpPr>
        <p:spPr>
          <a:xfrm>
            <a:off x="457200" y="3374136"/>
            <a:ext cx="2514600" cy="658368"/>
          </a:xfrm>
          <a:prstGeom prst="rect">
            <a:avLst/>
          </a:prstGeom>
          <a:noFill/>
          <a:ln/>
        </p:spPr>
        <p:txBody>
          <a:bodyPr wrap="square" lIns="0" tIns="0" rIns="0" bIns="0"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BORROW: local co-investor</a:t>
            </a:r>
            <a:endParaRPr lang="en-US" sz="1200" dirty="0"/>
          </a:p>
        </p:txBody>
      </p:sp>
      <p:sp>
        <p:nvSpPr>
          <p:cNvPr id="28" name="Shape 26"/>
          <p:cNvSpPr/>
          <p:nvPr/>
        </p:nvSpPr>
        <p:spPr>
          <a:xfrm>
            <a:off x="3063240" y="3374136"/>
            <a:ext cx="1874520" cy="658368"/>
          </a:xfrm>
          <a:prstGeom prst="rect">
            <a:avLst/>
          </a:prstGeom>
          <a:solidFill>
            <a:srgbClr val="F4F6FB"/>
          </a:solidFill>
          <a:ln w="12700">
            <a:solidFill>
              <a:srgbClr val="F4F6FB"/>
            </a:solidFill>
            <a:prstDash val="solid"/>
          </a:ln>
        </p:spPr>
      </p:sp>
      <p:sp>
        <p:nvSpPr>
          <p:cNvPr id="29" name="Text 27"/>
          <p:cNvSpPr txBox="1"/>
          <p:nvPr/>
        </p:nvSpPr>
        <p:spPr>
          <a:xfrm>
            <a:off x="3063240" y="3374136"/>
            <a:ext cx="1874520" cy="658368"/>
          </a:xfrm>
          <a:prstGeom prst="rect">
            <a:avLst/>
          </a:prstGeom>
          <a:noFill/>
          <a:ln/>
        </p:spPr>
        <p:txBody>
          <a:bodyPr wrap="square" lIns="0" tIns="0" rIns="0" bIns="0" rtlCol="0" anchor="ctr"/>
          <a:lstStyle/>
          <a:p>
            <a:pPr algn="ctr" indent="0" marL="0">
              <a:buNone/>
            </a:pPr>
            <a:r>
              <a:rPr lang="en-US" sz="1200" i="1" dirty="0">
                <a:solidFill>
                  <a:srgbClr val="5A5F73"/>
                </a:solidFill>
                <a:latin typeface="Times New Roman" pitchFamily="34" charset="0"/>
                <a:ea typeface="Times New Roman" pitchFamily="34" charset="-122"/>
                <a:cs typeface="Times New Roman" pitchFamily="34" charset="-120"/>
              </a:rPr>
              <a:t>check</a:t>
            </a:r>
            <a:endParaRPr lang="en-US" sz="1200" dirty="0"/>
          </a:p>
        </p:txBody>
      </p:sp>
      <p:sp>
        <p:nvSpPr>
          <p:cNvPr id="30" name="Shape 28"/>
          <p:cNvSpPr/>
          <p:nvPr/>
        </p:nvSpPr>
        <p:spPr>
          <a:xfrm>
            <a:off x="5029200" y="3374136"/>
            <a:ext cx="1874520" cy="658368"/>
          </a:xfrm>
          <a:prstGeom prst="rect">
            <a:avLst/>
          </a:prstGeom>
          <a:solidFill>
            <a:srgbClr val="E7E6E6"/>
          </a:solidFill>
          <a:ln w="12700">
            <a:solidFill>
              <a:srgbClr val="E7E6E6"/>
            </a:solidFill>
            <a:prstDash val="solid"/>
          </a:ln>
        </p:spPr>
      </p:sp>
      <p:sp>
        <p:nvSpPr>
          <p:cNvPr id="31" name="Text 29"/>
          <p:cNvSpPr txBox="1"/>
          <p:nvPr/>
        </p:nvSpPr>
        <p:spPr>
          <a:xfrm>
            <a:off x="5029200" y="3374136"/>
            <a:ext cx="1874520" cy="658368"/>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H3a: weakens</a:t>
            </a:r>
            <a:endParaRPr lang="en-US" sz="1400" dirty="0"/>
          </a:p>
        </p:txBody>
      </p:sp>
      <p:sp>
        <p:nvSpPr>
          <p:cNvPr id="32" name="Shape 30"/>
          <p:cNvSpPr/>
          <p:nvPr/>
        </p:nvSpPr>
        <p:spPr>
          <a:xfrm>
            <a:off x="6995160" y="3374136"/>
            <a:ext cx="1874520" cy="658368"/>
          </a:xfrm>
          <a:prstGeom prst="rect">
            <a:avLst/>
          </a:prstGeom>
          <a:solidFill>
            <a:srgbClr val="E7E6E6"/>
          </a:solidFill>
          <a:ln w="12700">
            <a:solidFill>
              <a:srgbClr val="E7E6E6"/>
            </a:solidFill>
            <a:prstDash val="solid"/>
          </a:ln>
        </p:spPr>
      </p:sp>
      <p:sp>
        <p:nvSpPr>
          <p:cNvPr id="33" name="Text 31"/>
          <p:cNvSpPr txBox="1"/>
          <p:nvPr/>
        </p:nvSpPr>
        <p:spPr>
          <a:xfrm>
            <a:off x="6995160" y="3374136"/>
            <a:ext cx="1874520" cy="658368"/>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H3b: weakens</a:t>
            </a:r>
            <a:endParaRPr lang="en-US" sz="1400" dirty="0"/>
          </a:p>
        </p:txBody>
      </p:sp>
      <p:sp>
        <p:nvSpPr>
          <p:cNvPr id="34" name="Text 32"/>
          <p:cNvSpPr txBox="1"/>
          <p:nvPr/>
        </p:nvSpPr>
        <p:spPr>
          <a:xfrm>
            <a:off x="457200" y="4160520"/>
            <a:ext cx="8412480" cy="457200"/>
          </a:xfrm>
          <a:prstGeom prst="rect">
            <a:avLst/>
          </a:prstGeom>
          <a:noFill/>
          <a:ln/>
        </p:spPr>
        <p:txBody>
          <a:bodyPr wrap="square" lIns="0" tIns="0" rIns="0" bIns="0" rtlCol="0" anchor="t"/>
          <a:lstStyle/>
          <a:p>
            <a:pPr indent="0" marL="0">
              <a:buNone/>
            </a:pPr>
            <a:r>
              <a:rPr lang="en-US" sz="1100" i="1" dirty="0">
                <a:solidFill>
                  <a:srgbClr val="5A5F73"/>
                </a:solidFill>
                <a:latin typeface="Times New Roman" pitchFamily="34" charset="0"/>
                <a:ea typeface="Times New Roman" pitchFamily="34" charset="-122"/>
                <a:cs typeface="Times New Roman" pitchFamily="34" charset="-120"/>
              </a:rPr>
              <a:t>"check" = tested and reported, expected weak or null; supports the build vs. borrow logic. Direct effects of both moderators are in every model.</a:t>
            </a:r>
            <a:endParaRPr lang="en-US" sz="1100" dirty="0"/>
          </a:p>
        </p:txBody>
      </p:sp>
      <p:sp>
        <p:nvSpPr>
          <p:cNvPr id="35" name="Shape 33"/>
          <p:cNvSpPr/>
          <p:nvPr/>
        </p:nvSpPr>
        <p:spPr>
          <a:xfrm>
            <a:off x="9098280" y="1325880"/>
            <a:ext cx="2606040" cy="3246120"/>
          </a:xfrm>
          <a:prstGeom prst="rect">
            <a:avLst/>
          </a:prstGeom>
          <a:solidFill>
            <a:srgbClr val="000000"/>
          </a:solidFill>
          <a:ln w="12700">
            <a:solidFill>
              <a:srgbClr val="000000"/>
            </a:solidFill>
            <a:prstDash val="solid"/>
          </a:ln>
        </p:spPr>
      </p:sp>
      <p:sp>
        <p:nvSpPr>
          <p:cNvPr id="36" name="Text 34"/>
          <p:cNvSpPr txBox="1"/>
          <p:nvPr/>
        </p:nvSpPr>
        <p:spPr>
          <a:xfrm>
            <a:off x="9281160" y="1463040"/>
            <a:ext cx="2240280" cy="685800"/>
          </a:xfrm>
          <a:prstGeom prst="rect">
            <a:avLst/>
          </a:prstGeom>
          <a:noFill/>
          <a:ln/>
        </p:spPr>
        <p:txBody>
          <a:bodyPr wrap="square" lIns="0" tIns="0" rIns="0" bIns="0" rtlCol="0" anchor="t"/>
          <a:lstStyle/>
          <a:p>
            <a:pPr indent="0" marL="0">
              <a:buNone/>
            </a:pPr>
            <a:r>
              <a:rPr lang="en-US" sz="1400" b="1" dirty="0">
                <a:solidFill>
                  <a:srgbClr val="FFFFFF"/>
                </a:solidFill>
                <a:latin typeface="Times New Roman" pitchFamily="34" charset="0"/>
                <a:ea typeface="Times New Roman" pitchFamily="34" charset="-122"/>
                <a:cs typeface="Times New Roman" pitchFamily="34" charset="-120"/>
              </a:rPr>
              <a:t>Why moderators, not independent variables?</a:t>
            </a:r>
            <a:endParaRPr lang="en-US" sz="1400" dirty="0"/>
          </a:p>
        </p:txBody>
      </p:sp>
      <p:sp>
        <p:nvSpPr>
          <p:cNvPr id="37" name="Text 35"/>
          <p:cNvSpPr txBox="1"/>
          <p:nvPr/>
        </p:nvSpPr>
        <p:spPr>
          <a:xfrm>
            <a:off x="9281160" y="2240280"/>
            <a:ext cx="2240280" cy="2240280"/>
          </a:xfrm>
          <a:prstGeom prst="rect">
            <a:avLst/>
          </a:prstGeom>
          <a:noFill/>
          <a:ln/>
        </p:spPr>
        <p:txBody>
          <a:bodyPr wrap="square" lIns="0" tIns="0" rIns="0" bIns="0" rtlCol="0" anchor="t"/>
          <a:lstStyle/>
          <a:p>
            <a:pPr indent="0" marL="0">
              <a:buNone/>
            </a:pPr>
            <a:r>
              <a:rPr lang="en-US" sz="1250" dirty="0">
                <a:solidFill>
                  <a:srgbClr val="FFFFFF"/>
                </a:solidFill>
                <a:latin typeface="Times New Roman" pitchFamily="34" charset="0"/>
                <a:ea typeface="Times New Roman" pitchFamily="34" charset="-122"/>
                <a:cs typeface="Times New Roman" pitchFamily="34" charset="-120"/>
              </a:rPr>
              <a:t>The direct effect of specialization is known (Gompers et al., 2009) and is a control in the model paper. Close papers model resources as moderators of distance (Li et al., 2014; Tykvová &amp; Schertler, 2014; Huang et al., 2023; Mingo et al., 2018).</a:t>
            </a:r>
            <a:endParaRPr lang="en-US" sz="1250" dirty="0"/>
          </a:p>
        </p:txBody>
      </p:sp>
      <p:sp>
        <p:nvSpPr>
          <p:cNvPr id="38" name="Shape 36"/>
          <p:cNvSpPr/>
          <p:nvPr/>
        </p:nvSpPr>
        <p:spPr>
          <a:xfrm>
            <a:off x="457200" y="4754880"/>
            <a:ext cx="5577840" cy="1417320"/>
          </a:xfrm>
          <a:prstGeom prst="rect">
            <a:avLst/>
          </a:prstGeom>
          <a:solidFill>
            <a:srgbClr val="E7E6E6"/>
          </a:solidFill>
          <a:ln w="12700">
            <a:solidFill>
              <a:srgbClr val="E7E6E6"/>
            </a:solidFill>
            <a:prstDash val="solid"/>
          </a:ln>
        </p:spPr>
      </p:sp>
      <p:sp>
        <p:nvSpPr>
          <p:cNvPr id="39" name="Text 37"/>
          <p:cNvSpPr txBox="1"/>
          <p:nvPr/>
        </p:nvSpPr>
        <p:spPr>
          <a:xfrm>
            <a:off x="685800" y="4846320"/>
            <a:ext cx="5120640" cy="274320"/>
          </a:xfrm>
          <a:prstGeom prst="rect">
            <a:avLst/>
          </a:prstGeom>
          <a:noFill/>
          <a:ln/>
        </p:spPr>
        <p:txBody>
          <a:bodyPr wrap="square" lIns="0" tIns="0" rIns="0" bIns="0" rtlCol="0" anchor="t"/>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H2 mechanism</a:t>
            </a:r>
            <a:endParaRPr lang="en-US" sz="1400" dirty="0"/>
          </a:p>
        </p:txBody>
      </p:sp>
      <p:sp>
        <p:nvSpPr>
          <p:cNvPr id="40" name="Text 38"/>
          <p:cNvSpPr txBox="1"/>
          <p:nvPr/>
        </p:nvSpPr>
        <p:spPr>
          <a:xfrm>
            <a:off x="685800" y="5138928"/>
            <a:ext cx="5120640" cy="987552"/>
          </a:xfrm>
          <a:prstGeom prst="rect">
            <a:avLst/>
          </a:prstGeom>
          <a:noFill/>
          <a:ln/>
        </p:spPr>
        <p:txBody>
          <a:bodyPr wrap="square" lIns="0" tIns="0" rIns="0" bIns="0" rtlCol="0" anchor="t"/>
          <a:lstStyle/>
          <a:p>
            <a:pPr indent="0" marL="0">
              <a:buNone/>
            </a:pPr>
            <a:r>
              <a:rPr lang="en-US" sz="1200" dirty="0">
                <a:solidFill>
                  <a:srgbClr val="1B1B2F"/>
                </a:solidFill>
                <a:latin typeface="Times New Roman" pitchFamily="34" charset="0"/>
                <a:ea typeface="Times New Roman" pitchFamily="34" charset="-122"/>
                <a:cs typeface="Times New Roman" pitchFamily="34" charset="-120"/>
              </a:rPr>
              <a:t>Country knowledge is tied to the home market; industry knowledge (regulatory pathways, IP practice, acquirers, advisers) travels across borders. Specialists rely less on country knowledge, so they lose less as institutional distance grows: specialization changes the slope, not only the level.</a:t>
            </a:r>
            <a:endParaRPr lang="en-US" sz="1200" dirty="0"/>
          </a:p>
        </p:txBody>
      </p:sp>
      <p:sp>
        <p:nvSpPr>
          <p:cNvPr id="41" name="Shape 39"/>
          <p:cNvSpPr/>
          <p:nvPr/>
        </p:nvSpPr>
        <p:spPr>
          <a:xfrm>
            <a:off x="6126480" y="4754880"/>
            <a:ext cx="5577840" cy="1417320"/>
          </a:xfrm>
          <a:prstGeom prst="rect">
            <a:avLst/>
          </a:prstGeom>
          <a:solidFill>
            <a:srgbClr val="E7E6E6"/>
          </a:solidFill>
          <a:ln w="12700">
            <a:solidFill>
              <a:srgbClr val="E7E6E6"/>
            </a:solidFill>
            <a:prstDash val="solid"/>
          </a:ln>
        </p:spPr>
      </p:sp>
      <p:sp>
        <p:nvSpPr>
          <p:cNvPr id="42" name="Text 40"/>
          <p:cNvSpPr txBox="1"/>
          <p:nvPr/>
        </p:nvSpPr>
        <p:spPr>
          <a:xfrm>
            <a:off x="6355080" y="4846320"/>
            <a:ext cx="5120640" cy="274320"/>
          </a:xfrm>
          <a:prstGeom prst="rect">
            <a:avLst/>
          </a:prstGeom>
          <a:noFill/>
          <a:ln/>
        </p:spPr>
        <p:txBody>
          <a:bodyPr wrap="square" lIns="0" tIns="0" rIns="0" bIns="0" rtlCol="0" anchor="t"/>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H3 mechanism</a:t>
            </a:r>
            <a:endParaRPr lang="en-US" sz="1400" dirty="0"/>
          </a:p>
        </p:txBody>
      </p:sp>
      <p:sp>
        <p:nvSpPr>
          <p:cNvPr id="43" name="Text 41"/>
          <p:cNvSpPr txBox="1"/>
          <p:nvPr/>
        </p:nvSpPr>
        <p:spPr>
          <a:xfrm>
            <a:off x="6355080" y="5138928"/>
            <a:ext cx="5120640" cy="987552"/>
          </a:xfrm>
          <a:prstGeom prst="rect">
            <a:avLst/>
          </a:prstGeom>
          <a:noFill/>
          <a:ln/>
        </p:spPr>
        <p:txBody>
          <a:bodyPr wrap="square" lIns="0" tIns="0" rIns="0" bIns="0" rtlCol="0" anchor="t"/>
          <a:lstStyle/>
          <a:p>
            <a:pPr indent="0" marL="0">
              <a:buNone/>
            </a:pPr>
            <a:r>
              <a:rPr lang="en-US" sz="1200" dirty="0">
                <a:solidFill>
                  <a:srgbClr val="1B1B2F"/>
                </a:solidFill>
                <a:latin typeface="Times New Roman" pitchFamily="34" charset="0"/>
                <a:ea typeface="Times New Roman" pitchFamily="34" charset="-122"/>
                <a:cs typeface="Times New Roman" pitchFamily="34" charset="-120"/>
              </a:rPr>
              <a:t>Norms and trust are tacit and on-site monitoring needs proximity; an embedded local partner supplies both, narrowing cultural and geographic gaps (Dai &amp; Nahata, 2016; Chemmanur et al., 2016).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57200"/>
            <a:ext cx="11247120" cy="594360"/>
          </a:xfrm>
          <a:prstGeom prst="rect">
            <a:avLst/>
          </a:prstGeom>
          <a:noFill/>
          <a:ln/>
        </p:spPr>
        <p:txBody>
          <a:bodyPr wrap="square" lIns="0" tIns="0" rIns="0" bIns="0" rtlCol="0" anchor="ctr"/>
          <a:lstStyle/>
          <a:p>
            <a:pPr indent="0" marL="0">
              <a:buNone/>
            </a:pPr>
            <a:r>
              <a:rPr lang="en-US" sz="2400" b="1" dirty="0">
                <a:solidFill>
                  <a:srgbClr val="000000"/>
                </a:solidFill>
                <a:latin typeface="Times New Roman" pitchFamily="34" charset="0"/>
                <a:ea typeface="Times New Roman" pitchFamily="34" charset="-122"/>
                <a:cs typeface="Times New Roman" pitchFamily="34" charset="-120"/>
              </a:rPr>
              <a:t>Preliminary research design</a:t>
            </a:r>
            <a:endParaRPr lang="en-US" sz="2400" dirty="0"/>
          </a:p>
        </p:txBody>
      </p:sp>
      <p:sp>
        <p:nvSpPr>
          <p:cNvPr id="3" name="Text 1"/>
          <p:cNvSpPr txBox="1"/>
          <p:nvPr/>
        </p:nvSpPr>
        <p:spPr>
          <a:xfrm>
            <a:off x="11247120" y="6492240"/>
            <a:ext cx="685800" cy="228600"/>
          </a:xfrm>
          <a:prstGeom prst="rect">
            <a:avLst/>
          </a:prstGeom>
          <a:noFill/>
          <a:ln/>
        </p:spPr>
        <p:txBody>
          <a:bodyPr wrap="square" lIns="0" tIns="0" rIns="0" bIns="0" rtlCol="0" anchor="ctr"/>
          <a:lstStyle/>
          <a:p>
            <a:pPr algn="r" indent="0" marL="0">
              <a:buNone/>
            </a:pPr>
            <a:r>
              <a:rPr lang="en-US" sz="900" dirty="0">
                <a:solidFill>
                  <a:srgbClr val="5A5F73"/>
                </a:solidFill>
                <a:latin typeface="Times New Roman" pitchFamily="34" charset="0"/>
                <a:ea typeface="Times New Roman" pitchFamily="34" charset="-122"/>
                <a:cs typeface="Times New Roman" pitchFamily="34" charset="-120"/>
              </a:rPr>
              <a:t>9 / 11</a:t>
            </a:r>
            <a:endParaRPr lang="en-US" sz="900" dirty="0"/>
          </a:p>
        </p:txBody>
      </p:sp>
      <p:sp>
        <p:nvSpPr>
          <p:cNvPr id="4" name="Shape 2"/>
          <p:cNvSpPr/>
          <p:nvPr/>
        </p:nvSpPr>
        <p:spPr>
          <a:xfrm>
            <a:off x="457200" y="1280160"/>
            <a:ext cx="2194560" cy="713232"/>
          </a:xfrm>
          <a:prstGeom prst="rect">
            <a:avLst/>
          </a:prstGeom>
          <a:solidFill>
            <a:srgbClr val="000000"/>
          </a:solidFill>
          <a:ln w="12700">
            <a:solidFill>
              <a:srgbClr val="000000"/>
            </a:solidFill>
            <a:prstDash val="solid"/>
          </a:ln>
        </p:spPr>
      </p:sp>
      <p:sp>
        <p:nvSpPr>
          <p:cNvPr id="5" name="Text 3"/>
          <p:cNvSpPr txBox="1"/>
          <p:nvPr/>
        </p:nvSpPr>
        <p:spPr>
          <a:xfrm>
            <a:off x="457200" y="1280160"/>
            <a:ext cx="2194560" cy="713232"/>
          </a:xfrm>
          <a:prstGeom prst="rect">
            <a:avLst/>
          </a:prstGeom>
          <a:noFill/>
          <a:ln/>
        </p:spPr>
        <p:txBody>
          <a:bodyPr wrap="square" lIns="0" tIns="0" rIns="0" bIns="0"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Data</a:t>
            </a:r>
            <a:endParaRPr lang="en-US" sz="1300" dirty="0"/>
          </a:p>
        </p:txBody>
      </p:sp>
      <p:sp>
        <p:nvSpPr>
          <p:cNvPr id="6" name="Shape 4"/>
          <p:cNvSpPr/>
          <p:nvPr/>
        </p:nvSpPr>
        <p:spPr>
          <a:xfrm>
            <a:off x="2651760" y="1280160"/>
            <a:ext cx="5852160" cy="713232"/>
          </a:xfrm>
          <a:prstGeom prst="rect">
            <a:avLst/>
          </a:prstGeom>
          <a:solidFill>
            <a:srgbClr val="E7E6E6"/>
          </a:solidFill>
          <a:ln w="12700">
            <a:solidFill>
              <a:srgbClr val="E7E6E6"/>
            </a:solidFill>
            <a:prstDash val="solid"/>
          </a:ln>
        </p:spPr>
      </p:sp>
      <p:sp>
        <p:nvSpPr>
          <p:cNvPr id="7" name="Text 5"/>
          <p:cNvSpPr txBox="1"/>
          <p:nvPr/>
        </p:nvSpPr>
        <p:spPr>
          <a:xfrm>
            <a:off x="2788920" y="1280160"/>
            <a:ext cx="5577840" cy="713232"/>
          </a:xfrm>
          <a:prstGeom prst="rect">
            <a:avLst/>
          </a:prstGeom>
          <a:noFill/>
          <a:ln/>
        </p:spPr>
        <p:txBody>
          <a:bodyPr wrap="square" lIns="0" tIns="0" rIns="0" bIns="0" rtlCol="0" anchor="ctr"/>
          <a:lstStyle/>
          <a:p>
            <a:pPr indent="0" marL="0">
              <a:buNone/>
            </a:pPr>
            <a:r>
              <a:rPr lang="en-US" sz="1150" dirty="0">
                <a:solidFill>
                  <a:srgbClr val="1B1B2F"/>
                </a:solidFill>
                <a:latin typeface="Times New Roman" pitchFamily="34" charset="0"/>
                <a:ea typeface="Times New Roman" pitchFamily="34" charset="-122"/>
                <a:cs typeface="Times New Roman" pitchFamily="34" charset="-120"/>
              </a:rPr>
              <a:t>LSEG Workspace (VentureXpert) deal-level data; WGI (World Bank); Hofstede; great-circle distances</a:t>
            </a:r>
            <a:endParaRPr lang="en-US" sz="1150" dirty="0"/>
          </a:p>
        </p:txBody>
      </p:sp>
      <p:sp>
        <p:nvSpPr>
          <p:cNvPr id="8" name="Shape 6"/>
          <p:cNvSpPr/>
          <p:nvPr/>
        </p:nvSpPr>
        <p:spPr>
          <a:xfrm>
            <a:off x="457200" y="2084832"/>
            <a:ext cx="2194560" cy="713232"/>
          </a:xfrm>
          <a:prstGeom prst="rect">
            <a:avLst/>
          </a:prstGeom>
          <a:solidFill>
            <a:srgbClr val="000000"/>
          </a:solidFill>
          <a:ln w="12700">
            <a:solidFill>
              <a:srgbClr val="000000"/>
            </a:solidFill>
            <a:prstDash val="solid"/>
          </a:ln>
        </p:spPr>
      </p:sp>
      <p:sp>
        <p:nvSpPr>
          <p:cNvPr id="9" name="Text 7"/>
          <p:cNvSpPr txBox="1"/>
          <p:nvPr/>
        </p:nvSpPr>
        <p:spPr>
          <a:xfrm>
            <a:off x="457200" y="2084832"/>
            <a:ext cx="2194560" cy="713232"/>
          </a:xfrm>
          <a:prstGeom prst="rect">
            <a:avLst/>
          </a:prstGeom>
          <a:noFill/>
          <a:ln/>
        </p:spPr>
        <p:txBody>
          <a:bodyPr wrap="square" lIns="0" tIns="0" rIns="0" bIns="0"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Sample</a:t>
            </a:r>
            <a:endParaRPr lang="en-US" sz="1300" dirty="0"/>
          </a:p>
        </p:txBody>
      </p:sp>
      <p:sp>
        <p:nvSpPr>
          <p:cNvPr id="10" name="Shape 8"/>
          <p:cNvSpPr/>
          <p:nvPr/>
        </p:nvSpPr>
        <p:spPr>
          <a:xfrm>
            <a:off x="2651760" y="2084832"/>
            <a:ext cx="5852160" cy="713232"/>
          </a:xfrm>
          <a:prstGeom prst="rect">
            <a:avLst/>
          </a:prstGeom>
          <a:solidFill>
            <a:srgbClr val="E7E6E6"/>
          </a:solidFill>
          <a:ln w="12700">
            <a:solidFill>
              <a:srgbClr val="E7E6E6"/>
            </a:solidFill>
            <a:prstDash val="solid"/>
          </a:ln>
        </p:spPr>
      </p:sp>
      <p:sp>
        <p:nvSpPr>
          <p:cNvPr id="11" name="Text 9"/>
          <p:cNvSpPr txBox="1"/>
          <p:nvPr/>
        </p:nvSpPr>
        <p:spPr>
          <a:xfrm>
            <a:off x="2788920" y="2084832"/>
            <a:ext cx="5577840" cy="713232"/>
          </a:xfrm>
          <a:prstGeom prst="rect">
            <a:avLst/>
          </a:prstGeom>
          <a:noFill/>
          <a:ln/>
        </p:spPr>
        <p:txBody>
          <a:bodyPr wrap="square" lIns="0" tIns="0" rIns="0" bIns="0" rtlCol="0" anchor="ctr"/>
          <a:lstStyle/>
          <a:p>
            <a:pPr indent="0" marL="0">
              <a:buNone/>
            </a:pPr>
            <a:r>
              <a:rPr lang="en-US" sz="1150" dirty="0">
                <a:solidFill>
                  <a:srgbClr val="1B1B2F"/>
                </a:solidFill>
                <a:latin typeface="Times New Roman" pitchFamily="34" charset="0"/>
                <a:ea typeface="Times New Roman" pitchFamily="34" charset="-122"/>
                <a:cs typeface="Times New Roman" pitchFamily="34" charset="-120"/>
              </a:rPr>
              <a:t>First cross-border round where lead VC and venture are in different European countries (EU27 + UK, CH, NO); all sectors; c. 2000 to 2018 to allow 7+ years to exit</a:t>
            </a:r>
            <a:endParaRPr lang="en-US" sz="1150" dirty="0"/>
          </a:p>
        </p:txBody>
      </p:sp>
      <p:sp>
        <p:nvSpPr>
          <p:cNvPr id="12" name="Shape 10"/>
          <p:cNvSpPr/>
          <p:nvPr/>
        </p:nvSpPr>
        <p:spPr>
          <a:xfrm>
            <a:off x="457200" y="2889504"/>
            <a:ext cx="2194560" cy="713232"/>
          </a:xfrm>
          <a:prstGeom prst="rect">
            <a:avLst/>
          </a:prstGeom>
          <a:solidFill>
            <a:srgbClr val="000000"/>
          </a:solidFill>
          <a:ln w="12700">
            <a:solidFill>
              <a:srgbClr val="000000"/>
            </a:solidFill>
            <a:prstDash val="solid"/>
          </a:ln>
        </p:spPr>
      </p:sp>
      <p:sp>
        <p:nvSpPr>
          <p:cNvPr id="13" name="Text 11"/>
          <p:cNvSpPr txBox="1"/>
          <p:nvPr/>
        </p:nvSpPr>
        <p:spPr>
          <a:xfrm>
            <a:off x="457200" y="2889504"/>
            <a:ext cx="2194560" cy="713232"/>
          </a:xfrm>
          <a:prstGeom prst="rect">
            <a:avLst/>
          </a:prstGeom>
          <a:noFill/>
          <a:ln/>
        </p:spPr>
        <p:txBody>
          <a:bodyPr wrap="square" lIns="0" tIns="0" rIns="0" bIns="0"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Dependent variable</a:t>
            </a:r>
            <a:endParaRPr lang="en-US" sz="1300" dirty="0"/>
          </a:p>
        </p:txBody>
      </p:sp>
      <p:sp>
        <p:nvSpPr>
          <p:cNvPr id="14" name="Shape 12"/>
          <p:cNvSpPr/>
          <p:nvPr/>
        </p:nvSpPr>
        <p:spPr>
          <a:xfrm>
            <a:off x="2651760" y="2889504"/>
            <a:ext cx="5852160" cy="713232"/>
          </a:xfrm>
          <a:prstGeom prst="rect">
            <a:avLst/>
          </a:prstGeom>
          <a:solidFill>
            <a:srgbClr val="E7E6E6"/>
          </a:solidFill>
          <a:ln w="12700">
            <a:solidFill>
              <a:srgbClr val="E7E6E6"/>
            </a:solidFill>
            <a:prstDash val="solid"/>
          </a:ln>
        </p:spPr>
      </p:sp>
      <p:sp>
        <p:nvSpPr>
          <p:cNvPr id="15" name="Text 13"/>
          <p:cNvSpPr txBox="1"/>
          <p:nvPr/>
        </p:nvSpPr>
        <p:spPr>
          <a:xfrm>
            <a:off x="2788920" y="2889504"/>
            <a:ext cx="5577840" cy="713232"/>
          </a:xfrm>
          <a:prstGeom prst="rect">
            <a:avLst/>
          </a:prstGeom>
          <a:noFill/>
          <a:ln/>
        </p:spPr>
        <p:txBody>
          <a:bodyPr wrap="square" lIns="0" tIns="0" rIns="0" bIns="0" rtlCol="0" anchor="ctr"/>
          <a:lstStyle/>
          <a:p>
            <a:pPr indent="0" marL="0">
              <a:buNone/>
            </a:pPr>
            <a:r>
              <a:rPr lang="en-US" sz="1150" dirty="0">
                <a:solidFill>
                  <a:srgbClr val="1B1B2F"/>
                </a:solidFill>
                <a:latin typeface="Times New Roman" pitchFamily="34" charset="0"/>
                <a:ea typeface="Times New Roman" pitchFamily="34" charset="-122"/>
                <a:cs typeface="Times New Roman" pitchFamily="34" charset="-120"/>
              </a:rPr>
              <a:t>Exit success = 1 if IPO or M&amp;A, else 0 (Li et al., 2014; Liu &amp; Maula, 2021). Secondary: follow-on round within 24 months</a:t>
            </a:r>
            <a:endParaRPr lang="en-US" sz="1150" dirty="0"/>
          </a:p>
        </p:txBody>
      </p:sp>
      <p:sp>
        <p:nvSpPr>
          <p:cNvPr id="16" name="Shape 14"/>
          <p:cNvSpPr/>
          <p:nvPr/>
        </p:nvSpPr>
        <p:spPr>
          <a:xfrm>
            <a:off x="457200" y="3694176"/>
            <a:ext cx="2194560" cy="713232"/>
          </a:xfrm>
          <a:prstGeom prst="rect">
            <a:avLst/>
          </a:prstGeom>
          <a:solidFill>
            <a:srgbClr val="000000"/>
          </a:solidFill>
          <a:ln w="12700">
            <a:solidFill>
              <a:srgbClr val="000000"/>
            </a:solidFill>
            <a:prstDash val="solid"/>
          </a:ln>
        </p:spPr>
      </p:sp>
      <p:sp>
        <p:nvSpPr>
          <p:cNvPr id="17" name="Text 15"/>
          <p:cNvSpPr txBox="1"/>
          <p:nvPr/>
        </p:nvSpPr>
        <p:spPr>
          <a:xfrm>
            <a:off x="457200" y="3694176"/>
            <a:ext cx="2194560" cy="713232"/>
          </a:xfrm>
          <a:prstGeom prst="rect">
            <a:avLst/>
          </a:prstGeom>
          <a:noFill/>
          <a:ln/>
        </p:spPr>
        <p:txBody>
          <a:bodyPr wrap="square" lIns="0" tIns="0" rIns="0" bIns="0"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Distances</a:t>
            </a:r>
            <a:endParaRPr lang="en-US" sz="1300" dirty="0"/>
          </a:p>
        </p:txBody>
      </p:sp>
      <p:sp>
        <p:nvSpPr>
          <p:cNvPr id="18" name="Shape 16"/>
          <p:cNvSpPr/>
          <p:nvPr/>
        </p:nvSpPr>
        <p:spPr>
          <a:xfrm>
            <a:off x="2651760" y="3694176"/>
            <a:ext cx="5852160" cy="713232"/>
          </a:xfrm>
          <a:prstGeom prst="rect">
            <a:avLst/>
          </a:prstGeom>
          <a:solidFill>
            <a:srgbClr val="E7E6E6"/>
          </a:solidFill>
          <a:ln w="12700">
            <a:solidFill>
              <a:srgbClr val="E7E6E6"/>
            </a:solidFill>
            <a:prstDash val="solid"/>
          </a:ln>
        </p:spPr>
      </p:sp>
      <p:sp>
        <p:nvSpPr>
          <p:cNvPr id="19" name="Text 17"/>
          <p:cNvSpPr txBox="1"/>
          <p:nvPr/>
        </p:nvSpPr>
        <p:spPr>
          <a:xfrm>
            <a:off x="2788920" y="3694176"/>
            <a:ext cx="5577840" cy="713232"/>
          </a:xfrm>
          <a:prstGeom prst="rect">
            <a:avLst/>
          </a:prstGeom>
          <a:noFill/>
          <a:ln/>
        </p:spPr>
        <p:txBody>
          <a:bodyPr wrap="square" lIns="0" tIns="0" rIns="0" bIns="0" rtlCol="0" anchor="ctr"/>
          <a:lstStyle/>
          <a:p>
            <a:pPr indent="0" marL="0">
              <a:buNone/>
            </a:pPr>
            <a:r>
              <a:rPr lang="en-US" sz="1150" dirty="0">
                <a:solidFill>
                  <a:srgbClr val="1B1B2F"/>
                </a:solidFill>
                <a:latin typeface="Times New Roman" pitchFamily="34" charset="0"/>
                <a:ea typeface="Times New Roman" pitchFamily="34" charset="-122"/>
                <a:cs typeface="Times New Roman" pitchFamily="34" charset="-120"/>
              </a:rPr>
              <a:t>Institutional: Mahalanobis on WGI regulatory quality, rule of law, government effectiveness. Cultural: Kogut &amp; Singh on Hofstede. Geographic: ln km</a:t>
            </a:r>
            <a:endParaRPr lang="en-US" sz="1150" dirty="0"/>
          </a:p>
        </p:txBody>
      </p:sp>
      <p:sp>
        <p:nvSpPr>
          <p:cNvPr id="20" name="Shape 18"/>
          <p:cNvSpPr/>
          <p:nvPr/>
        </p:nvSpPr>
        <p:spPr>
          <a:xfrm>
            <a:off x="457200" y="4498848"/>
            <a:ext cx="2194560" cy="713232"/>
          </a:xfrm>
          <a:prstGeom prst="rect">
            <a:avLst/>
          </a:prstGeom>
          <a:solidFill>
            <a:srgbClr val="000000"/>
          </a:solidFill>
          <a:ln w="12700">
            <a:solidFill>
              <a:srgbClr val="000000"/>
            </a:solidFill>
            <a:prstDash val="solid"/>
          </a:ln>
        </p:spPr>
      </p:sp>
      <p:sp>
        <p:nvSpPr>
          <p:cNvPr id="21" name="Text 19"/>
          <p:cNvSpPr txBox="1"/>
          <p:nvPr/>
        </p:nvSpPr>
        <p:spPr>
          <a:xfrm>
            <a:off x="457200" y="4498848"/>
            <a:ext cx="2194560" cy="713232"/>
          </a:xfrm>
          <a:prstGeom prst="rect">
            <a:avLst/>
          </a:prstGeom>
          <a:noFill/>
          <a:ln/>
        </p:spPr>
        <p:txBody>
          <a:bodyPr wrap="square" lIns="0" tIns="0" rIns="0" bIns="0"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Moderators</a:t>
            </a:r>
            <a:endParaRPr lang="en-US" sz="1300" dirty="0"/>
          </a:p>
        </p:txBody>
      </p:sp>
      <p:sp>
        <p:nvSpPr>
          <p:cNvPr id="22" name="Shape 20"/>
          <p:cNvSpPr/>
          <p:nvPr/>
        </p:nvSpPr>
        <p:spPr>
          <a:xfrm>
            <a:off x="2651760" y="4498848"/>
            <a:ext cx="5852160" cy="713232"/>
          </a:xfrm>
          <a:prstGeom prst="rect">
            <a:avLst/>
          </a:prstGeom>
          <a:solidFill>
            <a:srgbClr val="E7E6E6"/>
          </a:solidFill>
          <a:ln w="12700">
            <a:solidFill>
              <a:srgbClr val="E7E6E6"/>
            </a:solidFill>
            <a:prstDash val="solid"/>
          </a:ln>
        </p:spPr>
      </p:sp>
      <p:sp>
        <p:nvSpPr>
          <p:cNvPr id="23" name="Text 21"/>
          <p:cNvSpPr txBox="1"/>
          <p:nvPr/>
        </p:nvSpPr>
        <p:spPr>
          <a:xfrm>
            <a:off x="2788920" y="4498848"/>
            <a:ext cx="5577840" cy="713232"/>
          </a:xfrm>
          <a:prstGeom prst="rect">
            <a:avLst/>
          </a:prstGeom>
          <a:noFill/>
          <a:ln/>
        </p:spPr>
        <p:txBody>
          <a:bodyPr wrap="square" lIns="0" tIns="0" rIns="0" bIns="0" rtlCol="0" anchor="ctr"/>
          <a:lstStyle/>
          <a:p>
            <a:pPr indent="0" marL="0">
              <a:buNone/>
            </a:pPr>
            <a:r>
              <a:rPr lang="en-US" sz="1150" dirty="0">
                <a:solidFill>
                  <a:srgbClr val="1B1B2F"/>
                </a:solidFill>
                <a:latin typeface="Times New Roman" pitchFamily="34" charset="0"/>
                <a:ea typeface="Times New Roman" pitchFamily="34" charset="-122"/>
                <a:cs typeface="Times New Roman" pitchFamily="34" charset="-120"/>
              </a:rPr>
              <a:t>Specialization: lead VC’s share of past-5-year investments in the venture’s industry (Li et al., 2014). Local co-investor: VC from venture’s country in syndicate (0/1)</a:t>
            </a:r>
            <a:endParaRPr lang="en-US" sz="1150" dirty="0"/>
          </a:p>
        </p:txBody>
      </p:sp>
      <p:sp>
        <p:nvSpPr>
          <p:cNvPr id="24" name="Shape 22"/>
          <p:cNvSpPr/>
          <p:nvPr/>
        </p:nvSpPr>
        <p:spPr>
          <a:xfrm>
            <a:off x="457200" y="5303520"/>
            <a:ext cx="2194560" cy="713232"/>
          </a:xfrm>
          <a:prstGeom prst="rect">
            <a:avLst/>
          </a:prstGeom>
          <a:solidFill>
            <a:srgbClr val="000000"/>
          </a:solidFill>
          <a:ln w="12700">
            <a:solidFill>
              <a:srgbClr val="000000"/>
            </a:solidFill>
            <a:prstDash val="solid"/>
          </a:ln>
        </p:spPr>
      </p:sp>
      <p:sp>
        <p:nvSpPr>
          <p:cNvPr id="25" name="Text 23"/>
          <p:cNvSpPr txBox="1"/>
          <p:nvPr/>
        </p:nvSpPr>
        <p:spPr>
          <a:xfrm>
            <a:off x="457200" y="5303520"/>
            <a:ext cx="2194560" cy="713232"/>
          </a:xfrm>
          <a:prstGeom prst="rect">
            <a:avLst/>
          </a:prstGeom>
          <a:noFill/>
          <a:ln/>
        </p:spPr>
        <p:txBody>
          <a:bodyPr wrap="square" lIns="0" tIns="0" rIns="0" bIns="0"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Method</a:t>
            </a:r>
            <a:endParaRPr lang="en-US" sz="1300" dirty="0"/>
          </a:p>
        </p:txBody>
      </p:sp>
      <p:sp>
        <p:nvSpPr>
          <p:cNvPr id="26" name="Shape 24"/>
          <p:cNvSpPr/>
          <p:nvPr/>
        </p:nvSpPr>
        <p:spPr>
          <a:xfrm>
            <a:off x="2651760" y="5303520"/>
            <a:ext cx="5852160" cy="713232"/>
          </a:xfrm>
          <a:prstGeom prst="rect">
            <a:avLst/>
          </a:prstGeom>
          <a:solidFill>
            <a:srgbClr val="E7E6E6"/>
          </a:solidFill>
          <a:ln w="12700">
            <a:solidFill>
              <a:srgbClr val="E7E6E6"/>
            </a:solidFill>
            <a:prstDash val="solid"/>
          </a:ln>
        </p:spPr>
      </p:sp>
      <p:sp>
        <p:nvSpPr>
          <p:cNvPr id="27" name="Text 25"/>
          <p:cNvSpPr txBox="1"/>
          <p:nvPr/>
        </p:nvSpPr>
        <p:spPr>
          <a:xfrm>
            <a:off x="2788920" y="5303520"/>
            <a:ext cx="5577840" cy="713232"/>
          </a:xfrm>
          <a:prstGeom prst="rect">
            <a:avLst/>
          </a:prstGeom>
          <a:noFill/>
          <a:ln/>
        </p:spPr>
        <p:txBody>
          <a:bodyPr wrap="square" lIns="0" tIns="0" rIns="0" bIns="0" rtlCol="0" anchor="ctr"/>
          <a:lstStyle/>
          <a:p>
            <a:pPr indent="0" marL="0">
              <a:buNone/>
            </a:pPr>
            <a:r>
              <a:rPr lang="en-US" sz="1150" dirty="0">
                <a:solidFill>
                  <a:srgbClr val="1B1B2F"/>
                </a:solidFill>
                <a:latin typeface="Times New Roman" pitchFamily="34" charset="0"/>
                <a:ea typeface="Times New Roman" pitchFamily="34" charset="-122"/>
                <a:cs typeface="Times New Roman" pitchFamily="34" charset="-120"/>
              </a:rPr>
              <a:t>Logit with year, industry, investor- and host-country FE; SE clustered by VC; interactions shown as marginal effects</a:t>
            </a:r>
            <a:endParaRPr lang="en-US" sz="1150" dirty="0"/>
          </a:p>
        </p:txBody>
      </p:sp>
      <p:sp>
        <p:nvSpPr>
          <p:cNvPr id="28" name="Shape 26"/>
          <p:cNvSpPr/>
          <p:nvPr/>
        </p:nvSpPr>
        <p:spPr>
          <a:xfrm>
            <a:off x="8732520" y="1280160"/>
            <a:ext cx="2971800" cy="4736592"/>
          </a:xfrm>
          <a:prstGeom prst="rect">
            <a:avLst/>
          </a:prstGeom>
          <a:solidFill>
            <a:srgbClr val="F4F6FB"/>
          </a:solidFill>
          <a:ln w="12700">
            <a:solidFill>
              <a:srgbClr val="F4F6FB"/>
            </a:solidFill>
            <a:prstDash val="solid"/>
          </a:ln>
        </p:spPr>
      </p:sp>
      <p:sp>
        <p:nvSpPr>
          <p:cNvPr id="29" name="Text 27"/>
          <p:cNvSpPr txBox="1"/>
          <p:nvPr/>
        </p:nvSpPr>
        <p:spPr>
          <a:xfrm>
            <a:off x="8915400" y="1371600"/>
            <a:ext cx="2651760" cy="320040"/>
          </a:xfrm>
          <a:prstGeom prst="rect">
            <a:avLst/>
          </a:prstGeom>
          <a:noFill/>
          <a:ln/>
        </p:spPr>
        <p:txBody>
          <a:bodyPr wrap="square" lIns="0" tIns="0" rIns="0" bIns="0" rtlCol="0" anchor="t"/>
          <a:lstStyle/>
          <a:p>
            <a:pPr indent="0" marL="0">
              <a:buNone/>
            </a:pPr>
            <a:r>
              <a:rPr lang="en-US" sz="1500" b="1" dirty="0">
                <a:solidFill>
                  <a:srgbClr val="000000"/>
                </a:solidFill>
                <a:latin typeface="Times New Roman" pitchFamily="34" charset="0"/>
                <a:ea typeface="Times New Roman" pitchFamily="34" charset="-122"/>
                <a:cs typeface="Times New Roman" pitchFamily="34" charset="-120"/>
              </a:rPr>
              <a:t>Robustness</a:t>
            </a:r>
            <a:endParaRPr lang="en-US" sz="1500" dirty="0"/>
          </a:p>
        </p:txBody>
      </p:sp>
      <p:sp>
        <p:nvSpPr>
          <p:cNvPr id="30" name="Text 28"/>
          <p:cNvSpPr txBox="1"/>
          <p:nvPr/>
        </p:nvSpPr>
        <p:spPr>
          <a:xfrm>
            <a:off x="8915400" y="1783080"/>
            <a:ext cx="2651760" cy="41605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B1B2F"/>
                </a:solidFill>
                <a:latin typeface="Times New Roman" pitchFamily="34" charset="0"/>
                <a:ea typeface="Times New Roman" pitchFamily="34" charset="-122"/>
                <a:cs typeface="Times New Roman" pitchFamily="34" charset="-120"/>
              </a:rPr>
              <a:t>Time to exit: Cox and competing risks (Espenlaub et al., 2015; Liu &amp; Maula, 2021)</a:t>
            </a:r>
            <a:endParaRPr lang="en-US" sz="1200" dirty="0"/>
          </a:p>
          <a:p>
            <a:pPr marL="342900" indent="-342900">
              <a:spcAft>
                <a:spcPts val="600"/>
              </a:spcAft>
              <a:buSzPct val="100000"/>
              <a:buChar char="•"/>
            </a:pPr>
            <a:r>
              <a:rPr lang="en-US" sz="1200" dirty="0">
                <a:solidFill>
                  <a:srgbClr val="1B1B2F"/>
                </a:solidFill>
                <a:latin typeface="Times New Roman" pitchFamily="34" charset="0"/>
                <a:ea typeface="Times New Roman" pitchFamily="34" charset="-122"/>
                <a:cs typeface="Times New Roman" pitchFamily="34" charset="-120"/>
              </a:rPr>
              <a:t>IPO and M&amp;A separately (Cumming et al., 2016)</a:t>
            </a:r>
            <a:endParaRPr lang="en-US" sz="1200" dirty="0"/>
          </a:p>
          <a:p>
            <a:pPr marL="342900" indent="-342900">
              <a:spcAft>
                <a:spcPts val="600"/>
              </a:spcAft>
              <a:buSzPct val="100000"/>
              <a:buChar char="•"/>
            </a:pPr>
            <a:r>
              <a:rPr lang="en-US" sz="1200" dirty="0">
                <a:solidFill>
                  <a:srgbClr val="1B1B2F"/>
                </a:solidFill>
                <a:latin typeface="Times New Roman" pitchFamily="34" charset="0"/>
                <a:ea typeface="Times New Roman" pitchFamily="34" charset="-122"/>
                <a:cs typeface="Times New Roman" pitchFamily="34" charset="-120"/>
              </a:rPr>
              <a:t>Probit and linear probability model</a:t>
            </a:r>
            <a:endParaRPr lang="en-US" sz="1200" dirty="0"/>
          </a:p>
          <a:p>
            <a:pPr marL="342900" indent="-342900">
              <a:spcAft>
                <a:spcPts val="600"/>
              </a:spcAft>
              <a:buSzPct val="100000"/>
              <a:buChar char="•"/>
            </a:pPr>
            <a:r>
              <a:rPr lang="en-US" sz="1200" dirty="0">
                <a:solidFill>
                  <a:srgbClr val="1B1B2F"/>
                </a:solidFill>
                <a:latin typeface="Times New Roman" pitchFamily="34" charset="0"/>
                <a:ea typeface="Times New Roman" pitchFamily="34" charset="-122"/>
                <a:cs typeface="Times New Roman" pitchFamily="34" charset="-120"/>
              </a:rPr>
              <a:t>Rule of law only as institutional measure (Li et al., 2014)</a:t>
            </a:r>
            <a:endParaRPr lang="en-US" sz="1200" dirty="0"/>
          </a:p>
          <a:p>
            <a:pPr marL="342900" indent="-342900">
              <a:spcAft>
                <a:spcPts val="600"/>
              </a:spcAft>
              <a:buSzPct val="100000"/>
              <a:buChar char="•"/>
            </a:pPr>
            <a:r>
              <a:rPr lang="en-US" sz="1200" dirty="0">
                <a:solidFill>
                  <a:srgbClr val="1B1B2F"/>
                </a:solidFill>
                <a:latin typeface="Times New Roman" pitchFamily="34" charset="0"/>
                <a:ea typeface="Times New Roman" pitchFamily="34" charset="-122"/>
                <a:cs typeface="Times New Roman" pitchFamily="34" charset="-120"/>
              </a:rPr>
              <a:t>Exclude UK and largest investor country</a:t>
            </a:r>
            <a:endParaRPr lang="en-US" sz="1200" dirty="0"/>
          </a:p>
          <a:p>
            <a:pPr marL="342900" indent="-342900">
              <a:spcAft>
                <a:spcPts val="600"/>
              </a:spcAft>
              <a:buSzPct val="100000"/>
              <a:buChar char="•"/>
            </a:pPr>
            <a:r>
              <a:rPr lang="en-US" sz="1200" dirty="0">
                <a:solidFill>
                  <a:srgbClr val="1B1B2F"/>
                </a:solidFill>
                <a:latin typeface="Times New Roman" pitchFamily="34" charset="0"/>
                <a:ea typeface="Times New Roman" pitchFamily="34" charset="-122"/>
                <a:cs typeface="Times New Roman" pitchFamily="34" charset="-120"/>
              </a:rPr>
              <a:t>GLOBE instead of Hofstede</a:t>
            </a:r>
            <a:endParaRPr lang="en-US" sz="1200" dirty="0"/>
          </a:p>
          <a:p>
            <a:pPr marL="342900" indent="-342900">
              <a:spcAft>
                <a:spcPts val="600"/>
              </a:spcAft>
              <a:buSzPct val="100000"/>
              <a:buChar char="•"/>
            </a:pPr>
            <a:r>
              <a:rPr lang="en-US" sz="1200" dirty="0">
                <a:solidFill>
                  <a:srgbClr val="1B1B2F"/>
                </a:solidFill>
                <a:latin typeface="Times New Roman" pitchFamily="34" charset="0"/>
                <a:ea typeface="Times New Roman" pitchFamily="34" charset="-122"/>
                <a:cs typeface="Times New Roman" pitchFamily="34" charset="-120"/>
              </a:rPr>
              <a:t>Heckman selection if time allows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57200"/>
            <a:ext cx="11247120" cy="594360"/>
          </a:xfrm>
          <a:prstGeom prst="rect">
            <a:avLst/>
          </a:prstGeom>
          <a:noFill/>
          <a:ln/>
        </p:spPr>
        <p:txBody>
          <a:bodyPr wrap="square" lIns="0" tIns="0" rIns="0" bIns="0" rtlCol="0" anchor="ctr"/>
          <a:lstStyle/>
          <a:p>
            <a:pPr indent="0" marL="0">
              <a:buNone/>
            </a:pPr>
            <a:r>
              <a:rPr lang="en-US" sz="2400" b="1" dirty="0">
                <a:solidFill>
                  <a:srgbClr val="000000"/>
                </a:solidFill>
                <a:latin typeface="Times New Roman" pitchFamily="34" charset="0"/>
                <a:ea typeface="Times New Roman" pitchFamily="34" charset="-122"/>
                <a:cs typeface="Times New Roman" pitchFamily="34" charset="-120"/>
              </a:rPr>
              <a:t>Feasibility check and next steps</a:t>
            </a:r>
            <a:endParaRPr lang="en-US" sz="2400" dirty="0"/>
          </a:p>
        </p:txBody>
      </p:sp>
      <p:sp>
        <p:nvSpPr>
          <p:cNvPr id="3" name="Text 1"/>
          <p:cNvSpPr txBox="1"/>
          <p:nvPr/>
        </p:nvSpPr>
        <p:spPr>
          <a:xfrm>
            <a:off x="11247120" y="6492240"/>
            <a:ext cx="685800" cy="228600"/>
          </a:xfrm>
          <a:prstGeom prst="rect">
            <a:avLst/>
          </a:prstGeom>
          <a:noFill/>
          <a:ln/>
        </p:spPr>
        <p:txBody>
          <a:bodyPr wrap="square" lIns="0" tIns="0" rIns="0" bIns="0" rtlCol="0" anchor="ctr"/>
          <a:lstStyle/>
          <a:p>
            <a:pPr algn="r" indent="0" marL="0">
              <a:buNone/>
            </a:pPr>
            <a:r>
              <a:rPr lang="en-US" sz="900" dirty="0">
                <a:solidFill>
                  <a:srgbClr val="5A5F73"/>
                </a:solidFill>
                <a:latin typeface="Times New Roman" pitchFamily="34" charset="0"/>
                <a:ea typeface="Times New Roman" pitchFamily="34" charset="-122"/>
                <a:cs typeface="Times New Roman" pitchFamily="34" charset="-120"/>
              </a:rPr>
              <a:t>10 / 11</a:t>
            </a:r>
            <a:endParaRPr lang="en-US" sz="900" dirty="0"/>
          </a:p>
        </p:txBody>
      </p:sp>
      <p:sp>
        <p:nvSpPr>
          <p:cNvPr id="4" name="Shape 2"/>
          <p:cNvSpPr/>
          <p:nvPr/>
        </p:nvSpPr>
        <p:spPr>
          <a:xfrm>
            <a:off x="457200" y="1280160"/>
            <a:ext cx="2560320" cy="457200"/>
          </a:xfrm>
          <a:prstGeom prst="rect">
            <a:avLst/>
          </a:prstGeom>
          <a:solidFill>
            <a:srgbClr val="000000"/>
          </a:solidFill>
          <a:ln w="12700">
            <a:solidFill>
              <a:srgbClr val="000000"/>
            </a:solidFill>
            <a:prstDash val="solid"/>
          </a:ln>
        </p:spPr>
      </p:sp>
      <p:sp>
        <p:nvSpPr>
          <p:cNvPr id="5" name="Text 3"/>
          <p:cNvSpPr txBox="1"/>
          <p:nvPr/>
        </p:nvSpPr>
        <p:spPr>
          <a:xfrm>
            <a:off x="457200" y="1280160"/>
            <a:ext cx="25603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Risk</a:t>
            </a:r>
            <a:endParaRPr lang="en-US" sz="1400" dirty="0"/>
          </a:p>
        </p:txBody>
      </p:sp>
      <p:sp>
        <p:nvSpPr>
          <p:cNvPr id="6" name="Shape 4"/>
          <p:cNvSpPr/>
          <p:nvPr/>
        </p:nvSpPr>
        <p:spPr>
          <a:xfrm>
            <a:off x="3108960" y="1280160"/>
            <a:ext cx="4206240" cy="457200"/>
          </a:xfrm>
          <a:prstGeom prst="rect">
            <a:avLst/>
          </a:prstGeom>
          <a:solidFill>
            <a:srgbClr val="000000"/>
          </a:solidFill>
          <a:ln w="12700">
            <a:solidFill>
              <a:srgbClr val="000000"/>
            </a:solidFill>
            <a:prstDash val="solid"/>
          </a:ln>
        </p:spPr>
      </p:sp>
      <p:sp>
        <p:nvSpPr>
          <p:cNvPr id="7" name="Text 5"/>
          <p:cNvSpPr txBox="1"/>
          <p:nvPr/>
        </p:nvSpPr>
        <p:spPr>
          <a:xfrm>
            <a:off x="3108960" y="1280160"/>
            <a:ext cx="420624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What I check</a:t>
            </a:r>
            <a:endParaRPr lang="en-US" sz="1400" dirty="0"/>
          </a:p>
        </p:txBody>
      </p:sp>
      <p:sp>
        <p:nvSpPr>
          <p:cNvPr id="8" name="Shape 6"/>
          <p:cNvSpPr/>
          <p:nvPr/>
        </p:nvSpPr>
        <p:spPr>
          <a:xfrm>
            <a:off x="7406640" y="1280160"/>
            <a:ext cx="4297680" cy="457200"/>
          </a:xfrm>
          <a:prstGeom prst="rect">
            <a:avLst/>
          </a:prstGeom>
          <a:solidFill>
            <a:srgbClr val="000000"/>
          </a:solidFill>
          <a:ln w="12700">
            <a:solidFill>
              <a:srgbClr val="000000"/>
            </a:solidFill>
            <a:prstDash val="solid"/>
          </a:ln>
        </p:spPr>
      </p:sp>
      <p:sp>
        <p:nvSpPr>
          <p:cNvPr id="9" name="Text 7"/>
          <p:cNvSpPr txBox="1"/>
          <p:nvPr/>
        </p:nvSpPr>
        <p:spPr>
          <a:xfrm>
            <a:off x="7406640" y="1280160"/>
            <a:ext cx="42976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Fallback</a:t>
            </a:r>
            <a:endParaRPr lang="en-US" sz="1400" dirty="0"/>
          </a:p>
        </p:txBody>
      </p:sp>
      <p:sp>
        <p:nvSpPr>
          <p:cNvPr id="10" name="Shape 8"/>
          <p:cNvSpPr/>
          <p:nvPr/>
        </p:nvSpPr>
        <p:spPr>
          <a:xfrm>
            <a:off x="457200" y="1828800"/>
            <a:ext cx="2560320" cy="777240"/>
          </a:xfrm>
          <a:prstGeom prst="rect">
            <a:avLst/>
          </a:prstGeom>
          <a:solidFill>
            <a:srgbClr val="E7E6E6"/>
          </a:solidFill>
          <a:ln w="12700">
            <a:solidFill>
              <a:srgbClr val="E7E6E6"/>
            </a:solidFill>
            <a:prstDash val="solid"/>
          </a:ln>
        </p:spPr>
      </p:sp>
      <p:sp>
        <p:nvSpPr>
          <p:cNvPr id="11" name="Text 9"/>
          <p:cNvSpPr txBox="1"/>
          <p:nvPr/>
        </p:nvSpPr>
        <p:spPr>
          <a:xfrm>
            <a:off x="594360" y="1828800"/>
            <a:ext cx="2286000" cy="777240"/>
          </a:xfrm>
          <a:prstGeom prst="rect">
            <a:avLst/>
          </a:prstGeom>
          <a:noFill/>
          <a:ln/>
        </p:spPr>
        <p:txBody>
          <a:bodyPr wrap="square" lIns="0" tIns="0" rIns="0" bIns="0" rtlCol="0" anchor="ctr"/>
          <a:lstStyle/>
          <a:p>
            <a:pPr indent="0" marL="0">
              <a:buNone/>
            </a:pPr>
            <a:r>
              <a:rPr lang="en-US" sz="1300" b="1" dirty="0">
                <a:solidFill>
                  <a:srgbClr val="000000"/>
                </a:solidFill>
                <a:latin typeface="Times New Roman" pitchFamily="34" charset="0"/>
                <a:ea typeface="Times New Roman" pitchFamily="34" charset="-122"/>
                <a:cs typeface="Times New Roman" pitchFamily="34" charset="-120"/>
              </a:rPr>
              <a:t>Enough deals?</a:t>
            </a:r>
            <a:endParaRPr lang="en-US" sz="1300" dirty="0"/>
          </a:p>
        </p:txBody>
      </p:sp>
      <p:sp>
        <p:nvSpPr>
          <p:cNvPr id="12" name="Shape 10"/>
          <p:cNvSpPr/>
          <p:nvPr/>
        </p:nvSpPr>
        <p:spPr>
          <a:xfrm>
            <a:off x="3108960" y="1828800"/>
            <a:ext cx="4206240" cy="777240"/>
          </a:xfrm>
          <a:prstGeom prst="rect">
            <a:avLst/>
          </a:prstGeom>
          <a:solidFill>
            <a:srgbClr val="E7E6E6"/>
          </a:solidFill>
          <a:ln w="12700">
            <a:solidFill>
              <a:srgbClr val="E7E6E6"/>
            </a:solidFill>
            <a:prstDash val="solid"/>
          </a:ln>
        </p:spPr>
      </p:sp>
      <p:sp>
        <p:nvSpPr>
          <p:cNvPr id="13" name="Text 11"/>
          <p:cNvSpPr txBox="1"/>
          <p:nvPr/>
        </p:nvSpPr>
        <p:spPr>
          <a:xfrm>
            <a:off x="3246120" y="1828800"/>
            <a:ext cx="3931920" cy="777240"/>
          </a:xfrm>
          <a:prstGeom prst="rect">
            <a:avLst/>
          </a:prstGeom>
          <a:noFill/>
          <a:ln/>
        </p:spPr>
        <p:txBody>
          <a:bodyPr wrap="square" lIns="0" tIns="0" rIns="0" bIns="0" rtlCol="0" anchor="ctr"/>
          <a:lstStyle/>
          <a:p>
            <a:pPr indent="0" marL="0">
              <a:buNone/>
            </a:pPr>
            <a:r>
              <a:rPr lang="en-US" sz="1200" dirty="0">
                <a:solidFill>
                  <a:srgbClr val="1B1B2F"/>
                </a:solidFill>
                <a:latin typeface="Times New Roman" pitchFamily="34" charset="0"/>
                <a:ea typeface="Times New Roman" pitchFamily="34" charset="-122"/>
                <a:cs typeface="Times New Roman" pitchFamily="34" charset="-120"/>
              </a:rPr>
              <a:t>Count intra-European cross-border rounds with investor country in LSEG</a:t>
            </a:r>
            <a:endParaRPr lang="en-US" sz="1200" dirty="0"/>
          </a:p>
        </p:txBody>
      </p:sp>
      <p:sp>
        <p:nvSpPr>
          <p:cNvPr id="14" name="Shape 12"/>
          <p:cNvSpPr/>
          <p:nvPr/>
        </p:nvSpPr>
        <p:spPr>
          <a:xfrm>
            <a:off x="7406640" y="1828800"/>
            <a:ext cx="4297680" cy="777240"/>
          </a:xfrm>
          <a:prstGeom prst="rect">
            <a:avLst/>
          </a:prstGeom>
          <a:solidFill>
            <a:srgbClr val="F4F6FB"/>
          </a:solidFill>
          <a:ln w="12700">
            <a:solidFill>
              <a:srgbClr val="F4F6FB"/>
            </a:solidFill>
            <a:prstDash val="solid"/>
          </a:ln>
        </p:spPr>
      </p:sp>
      <p:sp>
        <p:nvSpPr>
          <p:cNvPr id="15" name="Text 13"/>
          <p:cNvSpPr txBox="1"/>
          <p:nvPr/>
        </p:nvSpPr>
        <p:spPr>
          <a:xfrm>
            <a:off x="7543800" y="1828800"/>
            <a:ext cx="4023360" cy="777240"/>
          </a:xfrm>
          <a:prstGeom prst="rect">
            <a:avLst/>
          </a:prstGeom>
          <a:noFill/>
          <a:ln/>
        </p:spPr>
        <p:txBody>
          <a:bodyPr wrap="square" lIns="0" tIns="0" rIns="0" bIns="0" rtlCol="0" anchor="ctr"/>
          <a:lstStyle/>
          <a:p>
            <a:pPr indent="0" marL="0">
              <a:buNone/>
            </a:pPr>
            <a:r>
              <a:rPr lang="en-US" sz="1200" dirty="0">
                <a:solidFill>
                  <a:srgbClr val="1B1B2F"/>
                </a:solidFill>
                <a:latin typeface="Times New Roman" pitchFamily="34" charset="0"/>
                <a:ea typeface="Times New Roman" pitchFamily="34" charset="-122"/>
                <a:cs typeface="Times New Roman" pitchFamily="34" charset="-120"/>
              </a:rPr>
              <a:t>If too few: widen years or use follow-on round as main DV</a:t>
            </a:r>
            <a:endParaRPr lang="en-US" sz="1200" dirty="0"/>
          </a:p>
        </p:txBody>
      </p:sp>
      <p:sp>
        <p:nvSpPr>
          <p:cNvPr id="16" name="Shape 14"/>
          <p:cNvSpPr/>
          <p:nvPr/>
        </p:nvSpPr>
        <p:spPr>
          <a:xfrm>
            <a:off x="457200" y="2697480"/>
            <a:ext cx="2560320" cy="777240"/>
          </a:xfrm>
          <a:prstGeom prst="rect">
            <a:avLst/>
          </a:prstGeom>
          <a:solidFill>
            <a:srgbClr val="E7E6E6"/>
          </a:solidFill>
          <a:ln w="12700">
            <a:solidFill>
              <a:srgbClr val="E7E6E6"/>
            </a:solidFill>
            <a:prstDash val="solid"/>
          </a:ln>
        </p:spPr>
      </p:sp>
      <p:sp>
        <p:nvSpPr>
          <p:cNvPr id="17" name="Text 15"/>
          <p:cNvSpPr txBox="1"/>
          <p:nvPr/>
        </p:nvSpPr>
        <p:spPr>
          <a:xfrm>
            <a:off x="594360" y="2697480"/>
            <a:ext cx="2286000" cy="777240"/>
          </a:xfrm>
          <a:prstGeom prst="rect">
            <a:avLst/>
          </a:prstGeom>
          <a:noFill/>
          <a:ln/>
        </p:spPr>
        <p:txBody>
          <a:bodyPr wrap="square" lIns="0" tIns="0" rIns="0" bIns="0" rtlCol="0" anchor="ctr"/>
          <a:lstStyle/>
          <a:p>
            <a:pPr indent="0" marL="0">
              <a:buNone/>
            </a:pPr>
            <a:r>
              <a:rPr lang="en-US" sz="1300" b="1" dirty="0">
                <a:solidFill>
                  <a:srgbClr val="000000"/>
                </a:solidFill>
                <a:latin typeface="Times New Roman" pitchFamily="34" charset="0"/>
                <a:ea typeface="Times New Roman" pitchFamily="34" charset="-122"/>
                <a:cs typeface="Times New Roman" pitchFamily="34" charset="-120"/>
              </a:rPr>
              <a:t>Investor location</a:t>
            </a:r>
            <a:endParaRPr lang="en-US" sz="1300" dirty="0"/>
          </a:p>
        </p:txBody>
      </p:sp>
      <p:sp>
        <p:nvSpPr>
          <p:cNvPr id="18" name="Shape 16"/>
          <p:cNvSpPr/>
          <p:nvPr/>
        </p:nvSpPr>
        <p:spPr>
          <a:xfrm>
            <a:off x="3108960" y="2697480"/>
            <a:ext cx="4206240" cy="777240"/>
          </a:xfrm>
          <a:prstGeom prst="rect">
            <a:avLst/>
          </a:prstGeom>
          <a:solidFill>
            <a:srgbClr val="E7E6E6"/>
          </a:solidFill>
          <a:ln w="12700">
            <a:solidFill>
              <a:srgbClr val="E7E6E6"/>
            </a:solidFill>
            <a:prstDash val="solid"/>
          </a:ln>
        </p:spPr>
      </p:sp>
      <p:sp>
        <p:nvSpPr>
          <p:cNvPr id="19" name="Text 17"/>
          <p:cNvSpPr txBox="1"/>
          <p:nvPr/>
        </p:nvSpPr>
        <p:spPr>
          <a:xfrm>
            <a:off x="3246120" y="2697480"/>
            <a:ext cx="3931920" cy="777240"/>
          </a:xfrm>
          <a:prstGeom prst="rect">
            <a:avLst/>
          </a:prstGeom>
          <a:noFill/>
          <a:ln/>
        </p:spPr>
        <p:txBody>
          <a:bodyPr wrap="square" lIns="0" tIns="0" rIns="0" bIns="0" rtlCol="0" anchor="ctr"/>
          <a:lstStyle/>
          <a:p>
            <a:pPr indent="0" marL="0">
              <a:buNone/>
            </a:pPr>
            <a:r>
              <a:rPr lang="en-US" sz="1200" dirty="0">
                <a:solidFill>
                  <a:srgbClr val="1B1B2F"/>
                </a:solidFill>
                <a:latin typeface="Times New Roman" pitchFamily="34" charset="0"/>
                <a:ea typeface="Times New Roman" pitchFamily="34" charset="-122"/>
                <a:cs typeface="Times New Roman" pitchFamily="34" charset="-120"/>
              </a:rPr>
              <a:t>HQ field can misclassify branch-office deals as domestic (Devigne et al., 2018)</a:t>
            </a:r>
            <a:endParaRPr lang="en-US" sz="1200" dirty="0"/>
          </a:p>
        </p:txBody>
      </p:sp>
      <p:sp>
        <p:nvSpPr>
          <p:cNvPr id="20" name="Shape 18"/>
          <p:cNvSpPr/>
          <p:nvPr/>
        </p:nvSpPr>
        <p:spPr>
          <a:xfrm>
            <a:off x="7406640" y="2697480"/>
            <a:ext cx="4297680" cy="777240"/>
          </a:xfrm>
          <a:prstGeom prst="rect">
            <a:avLst/>
          </a:prstGeom>
          <a:solidFill>
            <a:srgbClr val="F4F6FB"/>
          </a:solidFill>
          <a:ln w="12700">
            <a:solidFill>
              <a:srgbClr val="F4F6FB"/>
            </a:solidFill>
            <a:prstDash val="solid"/>
          </a:ln>
        </p:spPr>
      </p:sp>
      <p:sp>
        <p:nvSpPr>
          <p:cNvPr id="21" name="Text 19"/>
          <p:cNvSpPr txBox="1"/>
          <p:nvPr/>
        </p:nvSpPr>
        <p:spPr>
          <a:xfrm>
            <a:off x="7543800" y="2697480"/>
            <a:ext cx="4023360" cy="777240"/>
          </a:xfrm>
          <a:prstGeom prst="rect">
            <a:avLst/>
          </a:prstGeom>
          <a:noFill/>
          <a:ln/>
        </p:spPr>
        <p:txBody>
          <a:bodyPr wrap="square" lIns="0" tIns="0" rIns="0" bIns="0" rtlCol="0" anchor="ctr"/>
          <a:lstStyle/>
          <a:p>
            <a:pPr indent="0" marL="0">
              <a:buNone/>
            </a:pPr>
            <a:r>
              <a:rPr lang="en-US" sz="1200" dirty="0">
                <a:solidFill>
                  <a:srgbClr val="1B1B2F"/>
                </a:solidFill>
                <a:latin typeface="Times New Roman" pitchFamily="34" charset="0"/>
                <a:ea typeface="Times New Roman" pitchFamily="34" charset="-122"/>
                <a:cs typeface="Times New Roman" pitchFamily="34" charset="-120"/>
              </a:rPr>
              <a:t>Check parent / branch field; manual check of top investors</a:t>
            </a:r>
            <a:endParaRPr lang="en-US" sz="1200" dirty="0"/>
          </a:p>
        </p:txBody>
      </p:sp>
      <p:sp>
        <p:nvSpPr>
          <p:cNvPr id="22" name="Shape 20"/>
          <p:cNvSpPr/>
          <p:nvPr/>
        </p:nvSpPr>
        <p:spPr>
          <a:xfrm>
            <a:off x="457200" y="3566160"/>
            <a:ext cx="2560320" cy="777240"/>
          </a:xfrm>
          <a:prstGeom prst="rect">
            <a:avLst/>
          </a:prstGeom>
          <a:solidFill>
            <a:srgbClr val="E7E6E6"/>
          </a:solidFill>
          <a:ln w="12700">
            <a:solidFill>
              <a:srgbClr val="E7E6E6"/>
            </a:solidFill>
            <a:prstDash val="solid"/>
          </a:ln>
        </p:spPr>
      </p:sp>
      <p:sp>
        <p:nvSpPr>
          <p:cNvPr id="23" name="Text 21"/>
          <p:cNvSpPr txBox="1"/>
          <p:nvPr/>
        </p:nvSpPr>
        <p:spPr>
          <a:xfrm>
            <a:off x="594360" y="3566160"/>
            <a:ext cx="2286000" cy="777240"/>
          </a:xfrm>
          <a:prstGeom prst="rect">
            <a:avLst/>
          </a:prstGeom>
          <a:noFill/>
          <a:ln/>
        </p:spPr>
        <p:txBody>
          <a:bodyPr wrap="square" lIns="0" tIns="0" rIns="0" bIns="0" rtlCol="0" anchor="ctr"/>
          <a:lstStyle/>
          <a:p>
            <a:pPr indent="0" marL="0">
              <a:buNone/>
            </a:pPr>
            <a:r>
              <a:rPr lang="en-US" sz="1300" b="1" dirty="0">
                <a:solidFill>
                  <a:srgbClr val="000000"/>
                </a:solidFill>
                <a:latin typeface="Times New Roman" pitchFamily="34" charset="0"/>
                <a:ea typeface="Times New Roman" pitchFamily="34" charset="-122"/>
                <a:cs typeface="Times New Roman" pitchFamily="34" charset="-120"/>
              </a:rPr>
              <a:t>Little variation within Europe</a:t>
            </a:r>
            <a:endParaRPr lang="en-US" sz="1300" dirty="0"/>
          </a:p>
        </p:txBody>
      </p:sp>
      <p:sp>
        <p:nvSpPr>
          <p:cNvPr id="24" name="Shape 22"/>
          <p:cNvSpPr/>
          <p:nvPr/>
        </p:nvSpPr>
        <p:spPr>
          <a:xfrm>
            <a:off x="3108960" y="3566160"/>
            <a:ext cx="4206240" cy="777240"/>
          </a:xfrm>
          <a:prstGeom prst="rect">
            <a:avLst/>
          </a:prstGeom>
          <a:solidFill>
            <a:srgbClr val="E7E6E6"/>
          </a:solidFill>
          <a:ln w="12700">
            <a:solidFill>
              <a:srgbClr val="E7E6E6"/>
            </a:solidFill>
            <a:prstDash val="solid"/>
          </a:ln>
        </p:spPr>
      </p:sp>
      <p:sp>
        <p:nvSpPr>
          <p:cNvPr id="25" name="Text 23"/>
          <p:cNvSpPr txBox="1"/>
          <p:nvPr/>
        </p:nvSpPr>
        <p:spPr>
          <a:xfrm>
            <a:off x="3246120" y="3566160"/>
            <a:ext cx="3931920" cy="777240"/>
          </a:xfrm>
          <a:prstGeom prst="rect">
            <a:avLst/>
          </a:prstGeom>
          <a:noFill/>
          <a:ln/>
        </p:spPr>
        <p:txBody>
          <a:bodyPr wrap="square" lIns="0" tIns="0" rIns="0" bIns="0" rtlCol="0" anchor="ctr"/>
          <a:lstStyle/>
          <a:p>
            <a:pPr indent="0" marL="0">
              <a:buNone/>
            </a:pPr>
            <a:r>
              <a:rPr lang="en-US" sz="1200" dirty="0">
                <a:solidFill>
                  <a:srgbClr val="1B1B2F"/>
                </a:solidFill>
                <a:latin typeface="Times New Roman" pitchFamily="34" charset="0"/>
                <a:ea typeface="Times New Roman" pitchFamily="34" charset="-122"/>
                <a:cs typeface="Times New Roman" pitchFamily="34" charset="-120"/>
              </a:rPr>
              <a:t>Distances may vary less than in global samples</a:t>
            </a:r>
            <a:endParaRPr lang="en-US" sz="1200" dirty="0"/>
          </a:p>
        </p:txBody>
      </p:sp>
      <p:sp>
        <p:nvSpPr>
          <p:cNvPr id="26" name="Shape 24"/>
          <p:cNvSpPr/>
          <p:nvPr/>
        </p:nvSpPr>
        <p:spPr>
          <a:xfrm>
            <a:off x="7406640" y="3566160"/>
            <a:ext cx="4297680" cy="777240"/>
          </a:xfrm>
          <a:prstGeom prst="rect">
            <a:avLst/>
          </a:prstGeom>
          <a:solidFill>
            <a:srgbClr val="F4F6FB"/>
          </a:solidFill>
          <a:ln w="12700">
            <a:solidFill>
              <a:srgbClr val="F4F6FB"/>
            </a:solidFill>
            <a:prstDash val="solid"/>
          </a:ln>
        </p:spPr>
      </p:sp>
      <p:sp>
        <p:nvSpPr>
          <p:cNvPr id="27" name="Text 25"/>
          <p:cNvSpPr txBox="1"/>
          <p:nvPr/>
        </p:nvSpPr>
        <p:spPr>
          <a:xfrm>
            <a:off x="7543800" y="3566160"/>
            <a:ext cx="4023360" cy="777240"/>
          </a:xfrm>
          <a:prstGeom prst="rect">
            <a:avLst/>
          </a:prstGeom>
          <a:noFill/>
          <a:ln/>
        </p:spPr>
        <p:txBody>
          <a:bodyPr wrap="square" lIns="0" tIns="0" rIns="0" bIns="0" rtlCol="0" anchor="ctr"/>
          <a:lstStyle/>
          <a:p>
            <a:pPr indent="0" marL="0">
              <a:buNone/>
            </a:pPr>
            <a:r>
              <a:rPr lang="en-US" sz="1200" dirty="0">
                <a:solidFill>
                  <a:srgbClr val="1B1B2F"/>
                </a:solidFill>
                <a:latin typeface="Times New Roman" pitchFamily="34" charset="0"/>
                <a:ea typeface="Times New Roman" pitchFamily="34" charset="-122"/>
                <a:cs typeface="Times New Roman" pitchFamily="34" charset="-120"/>
              </a:rPr>
              <a:t>Report distance vs. host-score correlation (Beugelsdijk et al., 2018); control host quality</a:t>
            </a:r>
            <a:endParaRPr lang="en-US" sz="1200" dirty="0"/>
          </a:p>
        </p:txBody>
      </p:sp>
      <p:sp>
        <p:nvSpPr>
          <p:cNvPr id="28" name="Shape 26"/>
          <p:cNvSpPr/>
          <p:nvPr/>
        </p:nvSpPr>
        <p:spPr>
          <a:xfrm>
            <a:off x="457200" y="4434840"/>
            <a:ext cx="2560320" cy="777240"/>
          </a:xfrm>
          <a:prstGeom prst="rect">
            <a:avLst/>
          </a:prstGeom>
          <a:solidFill>
            <a:srgbClr val="E7E6E6"/>
          </a:solidFill>
          <a:ln w="12700">
            <a:solidFill>
              <a:srgbClr val="E7E6E6"/>
            </a:solidFill>
            <a:prstDash val="solid"/>
          </a:ln>
        </p:spPr>
      </p:sp>
      <p:sp>
        <p:nvSpPr>
          <p:cNvPr id="29" name="Text 27"/>
          <p:cNvSpPr txBox="1"/>
          <p:nvPr/>
        </p:nvSpPr>
        <p:spPr>
          <a:xfrm>
            <a:off x="594360" y="4434840"/>
            <a:ext cx="2286000" cy="777240"/>
          </a:xfrm>
          <a:prstGeom prst="rect">
            <a:avLst/>
          </a:prstGeom>
          <a:noFill/>
          <a:ln/>
        </p:spPr>
        <p:txBody>
          <a:bodyPr wrap="square" lIns="0" tIns="0" rIns="0" bIns="0" rtlCol="0" anchor="ctr"/>
          <a:lstStyle/>
          <a:p>
            <a:pPr indent="0" marL="0">
              <a:buNone/>
            </a:pPr>
            <a:r>
              <a:rPr lang="en-US" sz="1300" b="1" dirty="0">
                <a:solidFill>
                  <a:srgbClr val="000000"/>
                </a:solidFill>
                <a:latin typeface="Times New Roman" pitchFamily="34" charset="0"/>
                <a:ea typeface="Times New Roman" pitchFamily="34" charset="-122"/>
                <a:cs typeface="Times New Roman" pitchFamily="34" charset="-120"/>
              </a:rPr>
              <a:t>Exit censoring</a:t>
            </a:r>
            <a:endParaRPr lang="en-US" sz="1300" dirty="0"/>
          </a:p>
        </p:txBody>
      </p:sp>
      <p:sp>
        <p:nvSpPr>
          <p:cNvPr id="30" name="Shape 28"/>
          <p:cNvSpPr/>
          <p:nvPr/>
        </p:nvSpPr>
        <p:spPr>
          <a:xfrm>
            <a:off x="3108960" y="4434840"/>
            <a:ext cx="4206240" cy="777240"/>
          </a:xfrm>
          <a:prstGeom prst="rect">
            <a:avLst/>
          </a:prstGeom>
          <a:solidFill>
            <a:srgbClr val="E7E6E6"/>
          </a:solidFill>
          <a:ln w="12700">
            <a:solidFill>
              <a:srgbClr val="E7E6E6"/>
            </a:solidFill>
            <a:prstDash val="solid"/>
          </a:ln>
        </p:spPr>
      </p:sp>
      <p:sp>
        <p:nvSpPr>
          <p:cNvPr id="31" name="Text 29"/>
          <p:cNvSpPr txBox="1"/>
          <p:nvPr/>
        </p:nvSpPr>
        <p:spPr>
          <a:xfrm>
            <a:off x="3246120" y="4434840"/>
            <a:ext cx="3931920" cy="777240"/>
          </a:xfrm>
          <a:prstGeom prst="rect">
            <a:avLst/>
          </a:prstGeom>
          <a:noFill/>
          <a:ln/>
        </p:spPr>
        <p:txBody>
          <a:bodyPr wrap="square" lIns="0" tIns="0" rIns="0" bIns="0" rtlCol="0" anchor="ctr"/>
          <a:lstStyle/>
          <a:p>
            <a:pPr indent="0" marL="0">
              <a:buNone/>
            </a:pPr>
            <a:r>
              <a:rPr lang="en-US" sz="1200" dirty="0">
                <a:solidFill>
                  <a:srgbClr val="1B1B2F"/>
                </a:solidFill>
                <a:latin typeface="Times New Roman" pitchFamily="34" charset="0"/>
                <a:ea typeface="Times New Roman" pitchFamily="34" charset="-122"/>
                <a:cs typeface="Times New Roman" pitchFamily="34" charset="-120"/>
              </a:rPr>
              <a:t>Recent deals have not had time to exit</a:t>
            </a:r>
            <a:endParaRPr lang="en-US" sz="1200" dirty="0"/>
          </a:p>
        </p:txBody>
      </p:sp>
      <p:sp>
        <p:nvSpPr>
          <p:cNvPr id="32" name="Shape 30"/>
          <p:cNvSpPr/>
          <p:nvPr/>
        </p:nvSpPr>
        <p:spPr>
          <a:xfrm>
            <a:off x="7406640" y="4434840"/>
            <a:ext cx="4297680" cy="777240"/>
          </a:xfrm>
          <a:prstGeom prst="rect">
            <a:avLst/>
          </a:prstGeom>
          <a:solidFill>
            <a:srgbClr val="F4F6FB"/>
          </a:solidFill>
          <a:ln w="12700">
            <a:solidFill>
              <a:srgbClr val="F4F6FB"/>
            </a:solidFill>
            <a:prstDash val="solid"/>
          </a:ln>
        </p:spPr>
      </p:sp>
      <p:sp>
        <p:nvSpPr>
          <p:cNvPr id="33" name="Text 31"/>
          <p:cNvSpPr txBox="1"/>
          <p:nvPr/>
        </p:nvSpPr>
        <p:spPr>
          <a:xfrm>
            <a:off x="7543800" y="4434840"/>
            <a:ext cx="4023360" cy="777240"/>
          </a:xfrm>
          <a:prstGeom prst="rect">
            <a:avLst/>
          </a:prstGeom>
          <a:noFill/>
          <a:ln/>
        </p:spPr>
        <p:txBody>
          <a:bodyPr wrap="square" lIns="0" tIns="0" rIns="0" bIns="0" rtlCol="0" anchor="ctr"/>
          <a:lstStyle/>
          <a:p>
            <a:pPr indent="0" marL="0">
              <a:buNone/>
            </a:pPr>
            <a:r>
              <a:rPr lang="en-US" sz="1200" dirty="0">
                <a:solidFill>
                  <a:srgbClr val="1B1B2F"/>
                </a:solidFill>
                <a:latin typeface="Times New Roman" pitchFamily="34" charset="0"/>
                <a:ea typeface="Times New Roman" pitchFamily="34" charset="-122"/>
                <a:cs typeface="Times New Roman" pitchFamily="34" charset="-120"/>
              </a:rPr>
              <a:t>Sample cut-off around 2018; follow-on DV for later deals</a:t>
            </a:r>
            <a:endParaRPr lang="en-US" sz="1200" dirty="0"/>
          </a:p>
        </p:txBody>
      </p:sp>
      <p:sp>
        <p:nvSpPr>
          <p:cNvPr id="34" name="Shape 32"/>
          <p:cNvSpPr/>
          <p:nvPr/>
        </p:nvSpPr>
        <p:spPr>
          <a:xfrm>
            <a:off x="457200" y="5440680"/>
            <a:ext cx="2697480" cy="731520"/>
          </a:xfrm>
          <a:prstGeom prst="rect">
            <a:avLst/>
          </a:prstGeom>
          <a:solidFill>
            <a:srgbClr val="F4F6FB"/>
          </a:solidFill>
          <a:ln w="12700">
            <a:solidFill>
              <a:srgbClr val="F4F6FB"/>
            </a:solidFill>
            <a:prstDash val="solid"/>
          </a:ln>
        </p:spPr>
      </p:sp>
      <p:sp>
        <p:nvSpPr>
          <p:cNvPr id="35" name="Text 33"/>
          <p:cNvSpPr txBox="1"/>
          <p:nvPr/>
        </p:nvSpPr>
        <p:spPr>
          <a:xfrm>
            <a:off x="594360" y="5468112"/>
            <a:ext cx="2423160" cy="292608"/>
          </a:xfrm>
          <a:prstGeom prst="rect">
            <a:avLst/>
          </a:prstGeom>
          <a:noFill/>
          <a:ln/>
        </p:spPr>
        <p:txBody>
          <a:bodyPr wrap="square" lIns="0" tIns="0" rIns="0" bIns="0" rtlCol="0" anchor="t"/>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3 Oct</a:t>
            </a:r>
            <a:endParaRPr lang="en-US" sz="1400" dirty="0"/>
          </a:p>
        </p:txBody>
      </p:sp>
      <p:sp>
        <p:nvSpPr>
          <p:cNvPr id="36" name="Text 34"/>
          <p:cNvSpPr txBox="1"/>
          <p:nvPr/>
        </p:nvSpPr>
        <p:spPr>
          <a:xfrm>
            <a:off x="594360" y="5760720"/>
            <a:ext cx="2423160" cy="365760"/>
          </a:xfrm>
          <a:prstGeom prst="rect">
            <a:avLst/>
          </a:prstGeom>
          <a:noFill/>
          <a:ln/>
        </p:spPr>
        <p:txBody>
          <a:bodyPr wrap="square" lIns="0" tIns="0" rIns="0" bIns="0" rtlCol="0" anchor="t"/>
          <a:lstStyle/>
          <a:p>
            <a:pPr indent="0" marL="0">
              <a:buNone/>
            </a:pPr>
            <a:r>
              <a:rPr lang="en-US" sz="1200" dirty="0">
                <a:solidFill>
                  <a:srgbClr val="1B1B2F"/>
                </a:solidFill>
                <a:latin typeface="Times New Roman" pitchFamily="34" charset="0"/>
                <a:ea typeface="Times New Roman" pitchFamily="34" charset="-122"/>
                <a:cs typeface="Times New Roman" pitchFamily="34" charset="-120"/>
              </a:rPr>
              <a:t>LSEG pilot pull and deal count</a:t>
            </a:r>
            <a:endParaRPr lang="en-US" sz="1200" dirty="0"/>
          </a:p>
        </p:txBody>
      </p:sp>
      <p:sp>
        <p:nvSpPr>
          <p:cNvPr id="37" name="Shape 35"/>
          <p:cNvSpPr/>
          <p:nvPr/>
        </p:nvSpPr>
        <p:spPr>
          <a:xfrm>
            <a:off x="3291840" y="5440680"/>
            <a:ext cx="2697480" cy="731520"/>
          </a:xfrm>
          <a:prstGeom prst="rect">
            <a:avLst/>
          </a:prstGeom>
          <a:solidFill>
            <a:srgbClr val="F4F6FB"/>
          </a:solidFill>
          <a:ln w="12700">
            <a:solidFill>
              <a:srgbClr val="F4F6FB"/>
            </a:solidFill>
            <a:prstDash val="solid"/>
          </a:ln>
        </p:spPr>
      </p:sp>
      <p:sp>
        <p:nvSpPr>
          <p:cNvPr id="38" name="Text 36"/>
          <p:cNvSpPr txBox="1"/>
          <p:nvPr/>
        </p:nvSpPr>
        <p:spPr>
          <a:xfrm>
            <a:off x="3429000" y="5468112"/>
            <a:ext cx="2423160" cy="292608"/>
          </a:xfrm>
          <a:prstGeom prst="rect">
            <a:avLst/>
          </a:prstGeom>
          <a:noFill/>
          <a:ln/>
        </p:spPr>
        <p:txBody>
          <a:bodyPr wrap="square" lIns="0" tIns="0" rIns="0" bIns="0" rtlCol="0" anchor="t"/>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6 Oct</a:t>
            </a:r>
            <a:endParaRPr lang="en-US" sz="1400" dirty="0"/>
          </a:p>
        </p:txBody>
      </p:sp>
      <p:sp>
        <p:nvSpPr>
          <p:cNvPr id="39" name="Text 37"/>
          <p:cNvSpPr txBox="1"/>
          <p:nvPr/>
        </p:nvSpPr>
        <p:spPr>
          <a:xfrm>
            <a:off x="3429000" y="5760720"/>
            <a:ext cx="2423160" cy="365760"/>
          </a:xfrm>
          <a:prstGeom prst="rect">
            <a:avLst/>
          </a:prstGeom>
          <a:noFill/>
          <a:ln/>
        </p:spPr>
        <p:txBody>
          <a:bodyPr wrap="square" lIns="0" tIns="0" rIns="0" bIns="0" rtlCol="0" anchor="t"/>
          <a:lstStyle/>
          <a:p>
            <a:pPr indent="0" marL="0">
              <a:buNone/>
            </a:pPr>
            <a:r>
              <a:rPr lang="en-US" sz="1200" dirty="0">
                <a:solidFill>
                  <a:srgbClr val="1B1B2F"/>
                </a:solidFill>
                <a:latin typeface="Times New Roman" pitchFamily="34" charset="0"/>
                <a:ea typeface="Times New Roman" pitchFamily="34" charset="-122"/>
                <a:cs typeface="Times New Roman" pitchFamily="34" charset="-120"/>
              </a:rPr>
              <a:t>Introduction and literature review drafted</a:t>
            </a:r>
            <a:endParaRPr lang="en-US" sz="1200" dirty="0"/>
          </a:p>
        </p:txBody>
      </p:sp>
      <p:sp>
        <p:nvSpPr>
          <p:cNvPr id="40" name="Shape 38"/>
          <p:cNvSpPr/>
          <p:nvPr/>
        </p:nvSpPr>
        <p:spPr>
          <a:xfrm>
            <a:off x="6126480" y="5440680"/>
            <a:ext cx="2697480" cy="731520"/>
          </a:xfrm>
          <a:prstGeom prst="rect">
            <a:avLst/>
          </a:prstGeom>
          <a:solidFill>
            <a:srgbClr val="F4F6FB"/>
          </a:solidFill>
          <a:ln w="12700">
            <a:solidFill>
              <a:srgbClr val="F4F6FB"/>
            </a:solidFill>
            <a:prstDash val="solid"/>
          </a:ln>
        </p:spPr>
      </p:sp>
      <p:sp>
        <p:nvSpPr>
          <p:cNvPr id="41" name="Text 39"/>
          <p:cNvSpPr txBox="1"/>
          <p:nvPr/>
        </p:nvSpPr>
        <p:spPr>
          <a:xfrm>
            <a:off x="6263640" y="5468112"/>
            <a:ext cx="2423160" cy="292608"/>
          </a:xfrm>
          <a:prstGeom prst="rect">
            <a:avLst/>
          </a:prstGeom>
          <a:noFill/>
          <a:ln/>
        </p:spPr>
        <p:txBody>
          <a:bodyPr wrap="square" lIns="0" tIns="0" rIns="0" bIns="0" rtlCol="0" anchor="t"/>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9 Oct</a:t>
            </a:r>
            <a:endParaRPr lang="en-US" sz="1400" dirty="0"/>
          </a:p>
        </p:txBody>
      </p:sp>
      <p:sp>
        <p:nvSpPr>
          <p:cNvPr id="42" name="Text 40"/>
          <p:cNvSpPr txBox="1"/>
          <p:nvPr/>
        </p:nvSpPr>
        <p:spPr>
          <a:xfrm>
            <a:off x="6263640" y="5760720"/>
            <a:ext cx="2423160" cy="365760"/>
          </a:xfrm>
          <a:prstGeom prst="rect">
            <a:avLst/>
          </a:prstGeom>
          <a:noFill/>
          <a:ln/>
        </p:spPr>
        <p:txBody>
          <a:bodyPr wrap="square" lIns="0" tIns="0" rIns="0" bIns="0" rtlCol="0" anchor="t"/>
          <a:lstStyle/>
          <a:p>
            <a:pPr indent="0" marL="0">
              <a:buNone/>
            </a:pPr>
            <a:r>
              <a:rPr lang="en-US" sz="1200" dirty="0">
                <a:solidFill>
                  <a:srgbClr val="1B1B2F"/>
                </a:solidFill>
                <a:latin typeface="Times New Roman" pitchFamily="34" charset="0"/>
                <a:ea typeface="Times New Roman" pitchFamily="34" charset="-122"/>
                <a:cs typeface="Times New Roman" pitchFamily="34" charset="-120"/>
              </a:rPr>
              <a:t>Methods and variables final</a:t>
            </a:r>
            <a:endParaRPr lang="en-US" sz="1200" dirty="0"/>
          </a:p>
        </p:txBody>
      </p:sp>
      <p:sp>
        <p:nvSpPr>
          <p:cNvPr id="43" name="Shape 41"/>
          <p:cNvSpPr/>
          <p:nvPr/>
        </p:nvSpPr>
        <p:spPr>
          <a:xfrm>
            <a:off x="8961120" y="5440680"/>
            <a:ext cx="2697480" cy="731520"/>
          </a:xfrm>
          <a:prstGeom prst="rect">
            <a:avLst/>
          </a:prstGeom>
          <a:solidFill>
            <a:srgbClr val="F4F6FB"/>
          </a:solidFill>
          <a:ln w="12700">
            <a:solidFill>
              <a:srgbClr val="F4F6FB"/>
            </a:solidFill>
            <a:prstDash val="solid"/>
          </a:ln>
        </p:spPr>
      </p:sp>
      <p:sp>
        <p:nvSpPr>
          <p:cNvPr id="44" name="Text 42"/>
          <p:cNvSpPr txBox="1"/>
          <p:nvPr/>
        </p:nvSpPr>
        <p:spPr>
          <a:xfrm>
            <a:off x="9098280" y="5468112"/>
            <a:ext cx="2423160" cy="292608"/>
          </a:xfrm>
          <a:prstGeom prst="rect">
            <a:avLst/>
          </a:prstGeom>
          <a:noFill/>
          <a:ln/>
        </p:spPr>
        <p:txBody>
          <a:bodyPr wrap="square" lIns="0" tIns="0" rIns="0" bIns="0" rtlCol="0" anchor="t"/>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11 Oct</a:t>
            </a:r>
            <a:endParaRPr lang="en-US" sz="1400" dirty="0"/>
          </a:p>
        </p:txBody>
      </p:sp>
      <p:sp>
        <p:nvSpPr>
          <p:cNvPr id="45" name="Text 43"/>
          <p:cNvSpPr txBox="1"/>
          <p:nvPr/>
        </p:nvSpPr>
        <p:spPr>
          <a:xfrm>
            <a:off x="9098280" y="5760720"/>
            <a:ext cx="2423160" cy="365760"/>
          </a:xfrm>
          <a:prstGeom prst="rect">
            <a:avLst/>
          </a:prstGeom>
          <a:noFill/>
          <a:ln/>
        </p:spPr>
        <p:txBody>
          <a:bodyPr wrap="square" lIns="0" tIns="0" rIns="0" bIns="0" rtlCol="0" anchor="t"/>
          <a:lstStyle/>
          <a:p>
            <a:pPr indent="0" marL="0">
              <a:buNone/>
            </a:pPr>
            <a:r>
              <a:rPr lang="en-US" sz="1200" dirty="0">
                <a:solidFill>
                  <a:srgbClr val="1B1B2F"/>
                </a:solidFill>
                <a:latin typeface="Times New Roman" pitchFamily="34" charset="0"/>
                <a:ea typeface="Times New Roman" pitchFamily="34" charset="-122"/>
                <a:cs typeface="Times New Roman" pitchFamily="34" charset="-120"/>
              </a:rPr>
              <a:t>Final proposal submitted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57200"/>
            <a:ext cx="11247120" cy="594360"/>
          </a:xfrm>
          <a:prstGeom prst="rect">
            <a:avLst/>
          </a:prstGeom>
          <a:noFill/>
          <a:ln/>
        </p:spPr>
        <p:txBody>
          <a:bodyPr wrap="square" lIns="0" tIns="0" rIns="0" bIns="0" rtlCol="0" anchor="ctr"/>
          <a:lstStyle/>
          <a:p>
            <a:pPr indent="0" marL="0">
              <a:buNone/>
            </a:pPr>
            <a:r>
              <a:rPr lang="en-US" sz="2400" b="1" dirty="0">
                <a:solidFill>
                  <a:srgbClr val="000000"/>
                </a:solidFill>
                <a:latin typeface="Times New Roman" pitchFamily="34" charset="0"/>
                <a:ea typeface="Times New Roman" pitchFamily="34" charset="-122"/>
                <a:cs typeface="Times New Roman" pitchFamily="34" charset="-120"/>
              </a:rPr>
              <a:t>Questions for discussion</a:t>
            </a:r>
            <a:endParaRPr lang="en-US" sz="2400" dirty="0"/>
          </a:p>
        </p:txBody>
      </p:sp>
      <p:sp>
        <p:nvSpPr>
          <p:cNvPr id="3" name="Text 1"/>
          <p:cNvSpPr txBox="1"/>
          <p:nvPr/>
        </p:nvSpPr>
        <p:spPr>
          <a:xfrm>
            <a:off x="11247120" y="6492240"/>
            <a:ext cx="685800" cy="228600"/>
          </a:xfrm>
          <a:prstGeom prst="rect">
            <a:avLst/>
          </a:prstGeom>
          <a:noFill/>
          <a:ln/>
        </p:spPr>
        <p:txBody>
          <a:bodyPr wrap="square" lIns="0" tIns="0" rIns="0" bIns="0" rtlCol="0" anchor="ctr"/>
          <a:lstStyle/>
          <a:p>
            <a:pPr algn="r" indent="0" marL="0">
              <a:buNone/>
            </a:pPr>
            <a:r>
              <a:rPr lang="en-US" sz="900" dirty="0">
                <a:solidFill>
                  <a:srgbClr val="5A5F73"/>
                </a:solidFill>
                <a:latin typeface="Times New Roman" pitchFamily="34" charset="0"/>
                <a:ea typeface="Times New Roman" pitchFamily="34" charset="-122"/>
                <a:cs typeface="Times New Roman" pitchFamily="34" charset="-120"/>
              </a:rPr>
              <a:t>11 / 11</a:t>
            </a:r>
            <a:endParaRPr lang="en-US" sz="900" dirty="0"/>
          </a:p>
        </p:txBody>
      </p:sp>
      <p:sp>
        <p:nvSpPr>
          <p:cNvPr id="4" name="Shape 2"/>
          <p:cNvSpPr/>
          <p:nvPr/>
        </p:nvSpPr>
        <p:spPr>
          <a:xfrm>
            <a:off x="548640" y="1572768"/>
            <a:ext cx="411480" cy="411480"/>
          </a:xfrm>
          <a:prstGeom prst="ellipse">
            <a:avLst/>
          </a:prstGeom>
          <a:solidFill>
            <a:srgbClr val="E7E6E6"/>
          </a:solidFill>
          <a:ln w="12700">
            <a:solidFill>
              <a:srgbClr val="E7E6E6"/>
            </a:solidFill>
            <a:prstDash val="solid"/>
          </a:ln>
        </p:spPr>
      </p:sp>
      <p:sp>
        <p:nvSpPr>
          <p:cNvPr id="5" name="Text 3"/>
          <p:cNvSpPr txBox="1"/>
          <p:nvPr/>
        </p:nvSpPr>
        <p:spPr>
          <a:xfrm>
            <a:off x="548640" y="1572768"/>
            <a:ext cx="411480" cy="411480"/>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1</a:t>
            </a:r>
            <a:endParaRPr lang="en-US" sz="1400" dirty="0"/>
          </a:p>
        </p:txBody>
      </p:sp>
      <p:sp>
        <p:nvSpPr>
          <p:cNvPr id="6" name="Shape 4"/>
          <p:cNvSpPr/>
          <p:nvPr/>
        </p:nvSpPr>
        <p:spPr>
          <a:xfrm>
            <a:off x="1143000" y="1371600"/>
            <a:ext cx="10561320" cy="960120"/>
          </a:xfrm>
          <a:prstGeom prst="rect">
            <a:avLst/>
          </a:prstGeom>
          <a:solidFill>
            <a:srgbClr val="E7E6E6"/>
          </a:solidFill>
          <a:ln w="12700">
            <a:solidFill>
              <a:srgbClr val="E7E6E6"/>
            </a:solidFill>
            <a:prstDash val="solid"/>
          </a:ln>
        </p:spPr>
      </p:sp>
      <p:sp>
        <p:nvSpPr>
          <p:cNvPr id="7" name="Text 5"/>
          <p:cNvSpPr txBox="1"/>
          <p:nvPr/>
        </p:nvSpPr>
        <p:spPr>
          <a:xfrm>
            <a:off x="1371600" y="1371600"/>
            <a:ext cx="10149840" cy="960120"/>
          </a:xfrm>
          <a:prstGeom prst="rect">
            <a:avLst/>
          </a:prstGeom>
          <a:noFill/>
          <a:ln/>
        </p:spPr>
        <p:txBody>
          <a:bodyPr wrap="square" lIns="0" tIns="0" rIns="0" bIns="0" rtlCol="0" anchor="ctr"/>
          <a:lstStyle/>
          <a:p>
            <a:pPr indent="0" marL="0">
              <a:buNone/>
            </a:pPr>
            <a:r>
              <a:rPr lang="en-US" sz="1600" dirty="0">
                <a:solidFill>
                  <a:srgbClr val="1B1B2F"/>
                </a:solidFill>
                <a:latin typeface="Times New Roman" pitchFamily="34" charset="0"/>
                <a:ea typeface="Times New Roman" pitchFamily="34" charset="-122"/>
                <a:cs typeface="Times New Roman" pitchFamily="34" charset="-120"/>
              </a:rPr>
              <a:t>Is the moderator argument for specialization (portable industry knowledge changes the slope) convincing, or should the mechanism be sharpened further?</a:t>
            </a:r>
            <a:endParaRPr lang="en-US" sz="1600" dirty="0"/>
          </a:p>
        </p:txBody>
      </p:sp>
      <p:sp>
        <p:nvSpPr>
          <p:cNvPr id="8" name="Shape 6"/>
          <p:cNvSpPr/>
          <p:nvPr/>
        </p:nvSpPr>
        <p:spPr>
          <a:xfrm>
            <a:off x="548640" y="2761488"/>
            <a:ext cx="411480" cy="411480"/>
          </a:xfrm>
          <a:prstGeom prst="ellipse">
            <a:avLst/>
          </a:prstGeom>
          <a:solidFill>
            <a:srgbClr val="E7E6E6"/>
          </a:solidFill>
          <a:ln w="12700">
            <a:solidFill>
              <a:srgbClr val="E7E6E6"/>
            </a:solidFill>
            <a:prstDash val="solid"/>
          </a:ln>
        </p:spPr>
      </p:sp>
      <p:sp>
        <p:nvSpPr>
          <p:cNvPr id="9" name="Text 7"/>
          <p:cNvSpPr txBox="1"/>
          <p:nvPr/>
        </p:nvSpPr>
        <p:spPr>
          <a:xfrm>
            <a:off x="548640" y="2761488"/>
            <a:ext cx="411480" cy="411480"/>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2</a:t>
            </a:r>
            <a:endParaRPr lang="en-US" sz="1400" dirty="0"/>
          </a:p>
        </p:txBody>
      </p:sp>
      <p:sp>
        <p:nvSpPr>
          <p:cNvPr id="10" name="Shape 8"/>
          <p:cNvSpPr/>
          <p:nvPr/>
        </p:nvSpPr>
        <p:spPr>
          <a:xfrm>
            <a:off x="1143000" y="2560320"/>
            <a:ext cx="10561320" cy="960120"/>
          </a:xfrm>
          <a:prstGeom prst="rect">
            <a:avLst/>
          </a:prstGeom>
          <a:solidFill>
            <a:srgbClr val="E7E6E6"/>
          </a:solidFill>
          <a:ln w="12700">
            <a:solidFill>
              <a:srgbClr val="E7E6E6"/>
            </a:solidFill>
            <a:prstDash val="solid"/>
          </a:ln>
        </p:spPr>
      </p:sp>
      <p:sp>
        <p:nvSpPr>
          <p:cNvPr id="11" name="Text 9"/>
          <p:cNvSpPr txBox="1"/>
          <p:nvPr/>
        </p:nvSpPr>
        <p:spPr>
          <a:xfrm>
            <a:off x="1371600" y="2560320"/>
            <a:ext cx="10149840" cy="960120"/>
          </a:xfrm>
          <a:prstGeom prst="rect">
            <a:avLst/>
          </a:prstGeom>
          <a:noFill/>
          <a:ln/>
        </p:spPr>
        <p:txBody>
          <a:bodyPr wrap="square" lIns="0" tIns="0" rIns="0" bIns="0" rtlCol="0" anchor="ctr"/>
          <a:lstStyle/>
          <a:p>
            <a:pPr indent="0" marL="0">
              <a:buNone/>
            </a:pPr>
            <a:r>
              <a:rPr lang="en-US" sz="1600" dirty="0">
                <a:solidFill>
                  <a:srgbClr val="1B1B2F"/>
                </a:solidFill>
                <a:latin typeface="Times New Roman" pitchFamily="34" charset="0"/>
                <a:ea typeface="Times New Roman" pitchFamily="34" charset="-122"/>
                <a:cs typeface="Times New Roman" pitchFamily="34" charset="-120"/>
              </a:rPr>
              <a:t>Three distances and two moderators: is this scope right for a master’s thesis, or should geographic distance become a control?</a:t>
            </a:r>
            <a:endParaRPr lang="en-US" sz="1600" dirty="0"/>
          </a:p>
        </p:txBody>
      </p:sp>
      <p:sp>
        <p:nvSpPr>
          <p:cNvPr id="12" name="Shape 10"/>
          <p:cNvSpPr/>
          <p:nvPr/>
        </p:nvSpPr>
        <p:spPr>
          <a:xfrm>
            <a:off x="548640" y="3950208"/>
            <a:ext cx="411480" cy="411480"/>
          </a:xfrm>
          <a:prstGeom prst="ellipse">
            <a:avLst/>
          </a:prstGeom>
          <a:solidFill>
            <a:srgbClr val="E7E6E6"/>
          </a:solidFill>
          <a:ln w="12700">
            <a:solidFill>
              <a:srgbClr val="E7E6E6"/>
            </a:solidFill>
            <a:prstDash val="solid"/>
          </a:ln>
        </p:spPr>
      </p:sp>
      <p:sp>
        <p:nvSpPr>
          <p:cNvPr id="13" name="Text 11"/>
          <p:cNvSpPr txBox="1"/>
          <p:nvPr/>
        </p:nvSpPr>
        <p:spPr>
          <a:xfrm>
            <a:off x="548640" y="3950208"/>
            <a:ext cx="411480" cy="411480"/>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3</a:t>
            </a:r>
            <a:endParaRPr lang="en-US" sz="1400" dirty="0"/>
          </a:p>
        </p:txBody>
      </p:sp>
      <p:sp>
        <p:nvSpPr>
          <p:cNvPr id="14" name="Shape 12"/>
          <p:cNvSpPr/>
          <p:nvPr/>
        </p:nvSpPr>
        <p:spPr>
          <a:xfrm>
            <a:off x="1143000" y="3749040"/>
            <a:ext cx="10561320" cy="960120"/>
          </a:xfrm>
          <a:prstGeom prst="rect">
            <a:avLst/>
          </a:prstGeom>
          <a:solidFill>
            <a:srgbClr val="E7E6E6"/>
          </a:solidFill>
          <a:ln w="12700">
            <a:solidFill>
              <a:srgbClr val="E7E6E6"/>
            </a:solidFill>
            <a:prstDash val="solid"/>
          </a:ln>
        </p:spPr>
      </p:sp>
      <p:sp>
        <p:nvSpPr>
          <p:cNvPr id="15" name="Text 13"/>
          <p:cNvSpPr txBox="1"/>
          <p:nvPr/>
        </p:nvSpPr>
        <p:spPr>
          <a:xfrm>
            <a:off x="1371600" y="3749040"/>
            <a:ext cx="10149840" cy="960120"/>
          </a:xfrm>
          <a:prstGeom prst="rect">
            <a:avLst/>
          </a:prstGeom>
          <a:noFill/>
          <a:ln/>
        </p:spPr>
        <p:txBody>
          <a:bodyPr wrap="square" lIns="0" tIns="0" rIns="0" bIns="0" rtlCol="0" anchor="ctr"/>
          <a:lstStyle/>
          <a:p>
            <a:pPr indent="0" marL="0">
              <a:buNone/>
            </a:pPr>
            <a:r>
              <a:rPr lang="en-US" sz="1600" dirty="0">
                <a:solidFill>
                  <a:srgbClr val="1B1B2F"/>
                </a:solidFill>
                <a:latin typeface="Times New Roman" pitchFamily="34" charset="0"/>
                <a:ea typeface="Times New Roman" pitchFamily="34" charset="-122"/>
                <a:cs typeface="Times New Roman" pitchFamily="34" charset="-120"/>
              </a:rPr>
              <a:t>Exit success as main outcome and follow-on financing as secondary: do you agree with this order?</a:t>
            </a:r>
            <a:endParaRPr lang="en-US" sz="1600" dirty="0"/>
          </a:p>
        </p:txBody>
      </p:sp>
      <p:sp>
        <p:nvSpPr>
          <p:cNvPr id="16" name="Shape 14"/>
          <p:cNvSpPr/>
          <p:nvPr/>
        </p:nvSpPr>
        <p:spPr>
          <a:xfrm>
            <a:off x="548640" y="5138928"/>
            <a:ext cx="411480" cy="411480"/>
          </a:xfrm>
          <a:prstGeom prst="ellipse">
            <a:avLst/>
          </a:prstGeom>
          <a:solidFill>
            <a:srgbClr val="E7E6E6"/>
          </a:solidFill>
          <a:ln w="12700">
            <a:solidFill>
              <a:srgbClr val="E7E6E6"/>
            </a:solidFill>
            <a:prstDash val="solid"/>
          </a:ln>
        </p:spPr>
      </p:sp>
      <p:sp>
        <p:nvSpPr>
          <p:cNvPr id="17" name="Text 15"/>
          <p:cNvSpPr txBox="1"/>
          <p:nvPr/>
        </p:nvSpPr>
        <p:spPr>
          <a:xfrm>
            <a:off x="548640" y="5138928"/>
            <a:ext cx="411480" cy="411480"/>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4</a:t>
            </a:r>
            <a:endParaRPr lang="en-US" sz="1400" dirty="0"/>
          </a:p>
        </p:txBody>
      </p:sp>
      <p:sp>
        <p:nvSpPr>
          <p:cNvPr id="18" name="Shape 16"/>
          <p:cNvSpPr/>
          <p:nvPr/>
        </p:nvSpPr>
        <p:spPr>
          <a:xfrm>
            <a:off x="1143000" y="4937760"/>
            <a:ext cx="10561320" cy="960120"/>
          </a:xfrm>
          <a:prstGeom prst="rect">
            <a:avLst/>
          </a:prstGeom>
          <a:solidFill>
            <a:srgbClr val="E7E6E6"/>
          </a:solidFill>
          <a:ln w="12700">
            <a:solidFill>
              <a:srgbClr val="E7E6E6"/>
            </a:solidFill>
            <a:prstDash val="solid"/>
          </a:ln>
        </p:spPr>
      </p:sp>
      <p:sp>
        <p:nvSpPr>
          <p:cNvPr id="19" name="Text 17"/>
          <p:cNvSpPr txBox="1"/>
          <p:nvPr/>
        </p:nvSpPr>
        <p:spPr>
          <a:xfrm>
            <a:off x="1371600" y="4937760"/>
            <a:ext cx="10149840" cy="960120"/>
          </a:xfrm>
          <a:prstGeom prst="rect">
            <a:avLst/>
          </a:prstGeom>
          <a:noFill/>
          <a:ln/>
        </p:spPr>
        <p:txBody>
          <a:bodyPr wrap="square" lIns="0" tIns="0" rIns="0" bIns="0" rtlCol="0" anchor="ctr"/>
          <a:lstStyle/>
          <a:p>
            <a:pPr indent="0" marL="0">
              <a:buNone/>
            </a:pPr>
            <a:r>
              <a:rPr lang="en-US" sz="1600" dirty="0">
                <a:solidFill>
                  <a:srgbClr val="1B1B2F"/>
                </a:solidFill>
                <a:latin typeface="Times New Roman" pitchFamily="34" charset="0"/>
                <a:ea typeface="Times New Roman" pitchFamily="34" charset="-122"/>
                <a:cs typeface="Times New Roman" pitchFamily="34" charset="-120"/>
              </a:rPr>
              <a:t>Is LSEG / VentureXpert sufficient for intra-European deals, or should I validate investor locations with Dealroom?</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or Borrow? Research proposal</dc:title>
  <dc:subject>PptxGenJS Presentation</dc:subject>
  <dc:creator>PptxGenJS</dc:creator>
  <cp:lastModifiedBy>PptxGenJS</cp:lastModifiedBy>
  <cp:revision>1</cp:revision>
  <dcterms:created xsi:type="dcterms:W3CDTF">2026-10-01T10:32:52Z</dcterms:created>
  <dcterms:modified xsi:type="dcterms:W3CDTF">2026-10-01T10:32:52Z</dcterms:modified>
</cp:coreProperties>
</file>